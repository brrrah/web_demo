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53f791c0694831" /><Relationship Type="http://schemas.openxmlformats.org/officeDocument/2006/relationships/extended-properties" Target="/docProps/app.xml" Id="R5792b1c652c34623" /><Relationship Type="http://schemas.openxmlformats.org/officeDocument/2006/relationships/officeDocument" Target="/ppt/presentation.xml" Id="R6295d93347b940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045953f02f41d0"/>
  </p:sldMasterIdLst>
  <p:notesMasterIdLst>
    <p:notesMasterId xmlns:r="http://schemas.openxmlformats.org/officeDocument/2006/relationships" r:id="R5b5f04f950644f5f"/>
  </p:notesMasterIdLst>
  <p:sldIdLst>
    <p:sldId xmlns:r="http://schemas.openxmlformats.org/officeDocument/2006/relationships" id="256" r:id="R258c6e75cf7f4a48"/>
    <p:sldId xmlns:r="http://schemas.openxmlformats.org/officeDocument/2006/relationships" id="257" r:id="R932f74b7f03f4b36"/>
    <p:sldId xmlns:r="http://schemas.openxmlformats.org/officeDocument/2006/relationships" id="258" r:id="Rbc4e67983a5a42af"/>
    <p:sldId xmlns:r="http://schemas.openxmlformats.org/officeDocument/2006/relationships" id="259" r:id="Rcfeb0a98c0704104"/>
    <p:sldId xmlns:r="http://schemas.openxmlformats.org/officeDocument/2006/relationships" id="260" r:id="Rfabdc2255f824ff6"/>
    <p:sldId xmlns:r="http://schemas.openxmlformats.org/officeDocument/2006/relationships" id="261" r:id="Reaefe5a489e24b82"/>
    <p:sldId xmlns:r="http://schemas.openxmlformats.org/officeDocument/2006/relationships" id="262" r:id="R79b7509cf0764601"/>
    <p:sldId xmlns:r="http://schemas.openxmlformats.org/officeDocument/2006/relationships" id="263" r:id="Ra4dd3086237747a1"/>
    <p:sldId xmlns:r="http://schemas.openxmlformats.org/officeDocument/2006/relationships" id="264" r:id="R898feed3d5bc4d12"/>
    <p:sldId xmlns:r="http://schemas.openxmlformats.org/officeDocument/2006/relationships" id="265" r:id="R8516e130edce4747"/>
    <p:sldId xmlns:r="http://schemas.openxmlformats.org/officeDocument/2006/relationships" id="266" r:id="R379f781c7b214924"/>
    <p:sldId xmlns:r="http://schemas.openxmlformats.org/officeDocument/2006/relationships" id="267" r:id="Ra01e7fedbc554f52"/>
    <p:sldId xmlns:r="http://schemas.openxmlformats.org/officeDocument/2006/relationships" id="268" r:id="R7bb75d5dbe724894"/>
    <p:sldId xmlns:r="http://schemas.openxmlformats.org/officeDocument/2006/relationships" id="269" r:id="R70e566770596437c"/>
    <p:sldId xmlns:r="http://schemas.openxmlformats.org/officeDocument/2006/relationships" id="270" r:id="R3680a382e73943b5"/>
    <p:sldId xmlns:r="http://schemas.openxmlformats.org/officeDocument/2006/relationships" id="271" r:id="R709e8f2a08094339"/>
    <p:sldId xmlns:r="http://schemas.openxmlformats.org/officeDocument/2006/relationships" id="272" r:id="Rff0d86d2d39f46b1"/>
    <p:sldId xmlns:r="http://schemas.openxmlformats.org/officeDocument/2006/relationships" id="273" r:id="Ra0b00228f5274beb"/>
    <p:sldId xmlns:r="http://schemas.openxmlformats.org/officeDocument/2006/relationships" id="274" r:id="R49855c2f21e74d69"/>
    <p:sldId xmlns:r="http://schemas.openxmlformats.org/officeDocument/2006/relationships" id="275" r:id="R04d2bde891434c2f"/>
    <p:sldId xmlns:r="http://schemas.openxmlformats.org/officeDocument/2006/relationships" id="276" r:id="R60a10861ab6f4372"/>
    <p:sldId xmlns:r="http://schemas.openxmlformats.org/officeDocument/2006/relationships" id="277" r:id="Rc34d27273ba646a0"/>
    <p:sldId xmlns:r="http://schemas.openxmlformats.org/officeDocument/2006/relationships" id="278" r:id="Ree158cd0db6e4e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6c2d806e4143e7" /><Relationship Type="http://schemas.openxmlformats.org/officeDocument/2006/relationships/slideMaster" Target="/ppt/slideMasters/slideMaster1.xml" Id="Rc7045953f02f41d0" /><Relationship Type="http://schemas.openxmlformats.org/officeDocument/2006/relationships/notesMaster" Target="/ppt/notesMasters/notesMaster1.xml" Id="R5b5f04f950644f5f" /><Relationship Type="http://schemas.openxmlformats.org/officeDocument/2006/relationships/presProps" Target="/ppt/presProps.xml" Id="R1322639cef494115" /><Relationship Type="http://schemas.openxmlformats.org/officeDocument/2006/relationships/tableStyles" Target="/ppt/tableStyles.xml" Id="R14a8775742844967" /><Relationship Type="http://schemas.openxmlformats.org/officeDocument/2006/relationships/slide" Target="/ppt/slides/slide1.xml" Id="R258c6e75cf7f4a48" /><Relationship Type="http://schemas.openxmlformats.org/officeDocument/2006/relationships/slide" Target="/ppt/slides/slide2.xml" Id="R932f74b7f03f4b36" /><Relationship Type="http://schemas.openxmlformats.org/officeDocument/2006/relationships/slide" Target="/ppt/slides/slide3.xml" Id="Rbc4e67983a5a42af" /><Relationship Type="http://schemas.openxmlformats.org/officeDocument/2006/relationships/slide" Target="/ppt/slides/slide4.xml" Id="Rcfeb0a98c0704104" /><Relationship Type="http://schemas.openxmlformats.org/officeDocument/2006/relationships/slide" Target="/ppt/slides/slide5.xml" Id="Rfabdc2255f824ff6" /><Relationship Type="http://schemas.openxmlformats.org/officeDocument/2006/relationships/slide" Target="/ppt/slides/slide6.xml" Id="Reaefe5a489e24b82" /><Relationship Type="http://schemas.openxmlformats.org/officeDocument/2006/relationships/slide" Target="/ppt/slides/slide7.xml" Id="R79b7509cf0764601" /><Relationship Type="http://schemas.openxmlformats.org/officeDocument/2006/relationships/slide" Target="/ppt/slides/slide8.xml" Id="Ra4dd3086237747a1" /><Relationship Type="http://schemas.openxmlformats.org/officeDocument/2006/relationships/slide" Target="/ppt/slides/slide9.xml" Id="R898feed3d5bc4d12" /><Relationship Type="http://schemas.openxmlformats.org/officeDocument/2006/relationships/slide" Target="/ppt/slides/slide10.xml" Id="R8516e130edce4747" /><Relationship Type="http://schemas.openxmlformats.org/officeDocument/2006/relationships/slide" Target="/ppt/slides/slide11.xml" Id="R379f781c7b214924" /><Relationship Type="http://schemas.openxmlformats.org/officeDocument/2006/relationships/slide" Target="/ppt/slides/slide12.xml" Id="Ra01e7fedbc554f52" /><Relationship Type="http://schemas.openxmlformats.org/officeDocument/2006/relationships/slide" Target="/ppt/slides/slide13.xml" Id="R7bb75d5dbe724894" /><Relationship Type="http://schemas.openxmlformats.org/officeDocument/2006/relationships/slide" Target="/ppt/slides/slide14.xml" Id="R70e566770596437c" /><Relationship Type="http://schemas.openxmlformats.org/officeDocument/2006/relationships/slide" Target="/ppt/slides/slide15.xml" Id="R3680a382e73943b5" /><Relationship Type="http://schemas.openxmlformats.org/officeDocument/2006/relationships/slide" Target="/ppt/slides/slide16.xml" Id="R709e8f2a08094339" /><Relationship Type="http://schemas.openxmlformats.org/officeDocument/2006/relationships/slide" Target="/ppt/slides/slide17.xml" Id="Rff0d86d2d39f46b1" /><Relationship Type="http://schemas.openxmlformats.org/officeDocument/2006/relationships/slide" Target="/ppt/slides/slide18.xml" Id="Ra0b00228f5274beb" /><Relationship Type="http://schemas.openxmlformats.org/officeDocument/2006/relationships/slide" Target="/ppt/slides/slide19.xml" Id="R49855c2f21e74d69" /><Relationship Type="http://schemas.openxmlformats.org/officeDocument/2006/relationships/slide" Target="/ppt/slides/slide20.xml" Id="R04d2bde891434c2f" /><Relationship Type="http://schemas.openxmlformats.org/officeDocument/2006/relationships/slide" Target="/ppt/slides/slide21.xml" Id="R60a10861ab6f4372" /><Relationship Type="http://schemas.openxmlformats.org/officeDocument/2006/relationships/slide" Target="/ppt/slides/slide22.xml" Id="Rc34d27273ba646a0" /><Relationship Type="http://schemas.openxmlformats.org/officeDocument/2006/relationships/slide" Target="/ppt/slides/slide23.xml" Id="Ree158cd0db6e4e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bad9604f684f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58c7a22ba5446d" /><Relationship Type="http://schemas.openxmlformats.org/officeDocument/2006/relationships/notesMaster" Target="/ppt/notesMasters/notesMaster1.xml" Id="Re7f726d23cae46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6d039834c54d54" /><Relationship Type="http://schemas.openxmlformats.org/officeDocument/2006/relationships/notesMaster" Target="/ppt/notesMasters/notesMaster1.xml" Id="R02c5335ed95f45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c286621ee74fbd" /><Relationship Type="http://schemas.openxmlformats.org/officeDocument/2006/relationships/notesMaster" Target="/ppt/notesMasters/notesMaster1.xml" Id="R7a3d4d9dd90648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59e504cc5c4096" /><Relationship Type="http://schemas.openxmlformats.org/officeDocument/2006/relationships/notesMaster" Target="/ppt/notesMasters/notesMaster1.xml" Id="R76288467ed774c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6234b6f4fd4e44" /><Relationship Type="http://schemas.openxmlformats.org/officeDocument/2006/relationships/notesMaster" Target="/ppt/notesMasters/notesMaster1.xml" Id="Ref7b83411eac48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ab48c13bfb4089" /><Relationship Type="http://schemas.openxmlformats.org/officeDocument/2006/relationships/notesMaster" Target="/ppt/notesMasters/notesMaster1.xml" Id="R59374b1da77149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0d22f06cbc478a" /><Relationship Type="http://schemas.openxmlformats.org/officeDocument/2006/relationships/notesMaster" Target="/ppt/notesMasters/notesMaster1.xml" Id="R3f2e9f0a57924a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22945540624778" /><Relationship Type="http://schemas.openxmlformats.org/officeDocument/2006/relationships/notesMaster" Target="/ppt/notesMasters/notesMaster1.xml" Id="Re8918c185ef24d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5066e8482c42db" /><Relationship Type="http://schemas.openxmlformats.org/officeDocument/2006/relationships/notesMaster" Target="/ppt/notesMasters/notesMaster1.xml" Id="R72d38bf8310c45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002851ca614fae" /><Relationship Type="http://schemas.openxmlformats.org/officeDocument/2006/relationships/notesMaster" Target="/ppt/notesMasters/notesMaster1.xml" Id="Raec99a08dfc148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47ad11695d486f" /><Relationship Type="http://schemas.openxmlformats.org/officeDocument/2006/relationships/notesMaster" Target="/ppt/notesMasters/notesMaster1.xml" Id="R1550951aba8142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e530670a10443c" /><Relationship Type="http://schemas.openxmlformats.org/officeDocument/2006/relationships/notesMaster" Target="/ppt/notesMasters/notesMaster1.xml" Id="R15be29a480e444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e8762f37e541e9" /><Relationship Type="http://schemas.openxmlformats.org/officeDocument/2006/relationships/notesMaster" Target="/ppt/notesMasters/notesMaster1.xml" Id="R8dc8a29f5dae47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5d0fd764264553" /><Relationship Type="http://schemas.openxmlformats.org/officeDocument/2006/relationships/notesMaster" Target="/ppt/notesMasters/notesMaster1.xml" Id="R3c646228bd9d42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ecfe4cad9f4332" /><Relationship Type="http://schemas.openxmlformats.org/officeDocument/2006/relationships/notesMaster" Target="/ppt/notesMasters/notesMaster1.xml" Id="R0ef86993a85942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f7026cdc6342d3" /><Relationship Type="http://schemas.openxmlformats.org/officeDocument/2006/relationships/notesMaster" Target="/ppt/notesMasters/notesMaster1.xml" Id="Re4cd71ffb0694c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19a92a422a4f3b" /><Relationship Type="http://schemas.openxmlformats.org/officeDocument/2006/relationships/notesMaster" Target="/ppt/notesMasters/notesMaster1.xml" Id="R2baf253bbf3d4f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81791cb0084f2a" /><Relationship Type="http://schemas.openxmlformats.org/officeDocument/2006/relationships/notesMaster" Target="/ppt/notesMasters/notesMaster1.xml" Id="R9e4e3760b3fc40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bfa791f5c74a35" /><Relationship Type="http://schemas.openxmlformats.org/officeDocument/2006/relationships/notesMaster" Target="/ppt/notesMasters/notesMaster1.xml" Id="Ra09ca927847c42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79a7a53dd24bbd" /><Relationship Type="http://schemas.openxmlformats.org/officeDocument/2006/relationships/notesMaster" Target="/ppt/notesMasters/notesMaster1.xml" Id="R0e96d84f224b43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6eca8c8da9c47ab" /><Relationship Type="http://schemas.openxmlformats.org/officeDocument/2006/relationships/notesMaster" Target="/ppt/notesMasters/notesMaster1.xml" Id="R5a4a3586e0ca4f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b4a9cf82e1f4c18" /><Relationship Type="http://schemas.openxmlformats.org/officeDocument/2006/relationships/notesMaster" Target="/ppt/notesMasters/notesMaster1.xml" Id="Rd18c21ac6ebf41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1b5b201fc354490" /><Relationship Type="http://schemas.openxmlformats.org/officeDocument/2006/relationships/notesMaster" Target="/ppt/notesMasters/notesMaster1.xml" Id="R17fb317c91e847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README.md and package.json</a:t>
            </a:r>
          </a:p>
          <a:p xmlns:a="http://schemas.openxmlformats.org/drawingml/2006/main">
            <a:r>
              <a:t>- Generated visual: built-in image generation; prompt recorded in the image metadata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README.md</a:t>
            </a:r>
          </a:p>
          <a:p xmlns:a="http://schemas.openxmlformats.org/drawingml/2006/main">
            <a:r>
              <a:t>- Local project: src/combatData.ts (FIXED_HZ and ROUND_FRAMES)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README.md</a:t>
            </a:r>
          </a:p>
          <a:p xmlns:a="http://schemas.openxmlformats.org/drawingml/2006/main">
            <a:r>
              <a:t>- Local project: src/main.ts (LoginScene, MainMenuScene, WarehouseScene, CombatScene)</a:t>
            </a:r>
          </a:p>
          <a:p xmlns:a="http://schemas.openxmlformats.org/drawingml/2006/main">
            <a:r>
              <a:t>- Local project: src/authSession.ts and src/playerLoadout.ts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README.md controls</a:t>
            </a:r>
          </a:p>
          <a:p xmlns:a="http://schemas.openxmlformats.org/drawingml/2006/main">
            <a:r>
              <a:t>- Local project: src/groundInput.ts</a:t>
            </a:r>
          </a:p>
          <a:p xmlns:a="http://schemas.openxmlformats.org/drawingml/2006/main">
            <a:r>
              <a:t>- Local project: src/combatData.ts</a:t>
            </a:r>
          </a:p>
          <a:p xmlns:a="http://schemas.openxmlformats.org/drawingml/2006/main">
            <a:r>
              <a:t>- Local project: src/main.ts input bindings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src/combatData.ts (attack, parry, dodge, dash values)</a:t>
            </a:r>
          </a:p>
          <a:p xmlns:a="http://schemas.openxmlformats.org/drawingml/2006/main">
            <a:r>
              <a:t>- Local project: README.md (blade intercept behavior)</a:t>
            </a:r>
          </a:p>
          <a:p xmlns:a="http://schemas.openxmlformats.org/drawingml/2006/main">
            <a:r>
              <a:t>- Local project: src/combat.ts (state transitions and parry break)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Mermaid flow: character selection → approach → combat exchange → result → restart or reselection</a:t>
            </a:r>
          </a:p>
          <a:p xmlns:a="http://schemas.openxmlformats.org/drawingml/2006/main">
            <a:r>
              <a:t>- Local project contracts: 60Hz fixed tick, controls, round 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Mermaid flow: WASD, double-tap dash, Space roll, LMB Blade Action</a:t>
            </a:r>
          </a:p>
          <a:p xmlns:a="http://schemas.openxmlformats.org/drawingml/2006/main">
            <a:r>
              <a:t>- Local project contracts: 3-tick intercept, 12/4/16 light attack, 1-second parry break</a:t>
            </a:r>
          </a:p>
          <a:p xmlns:a="http://schemas.openxmlformats.org/drawingml/2006/main">
            <a:r>
              <a:t>- Diagram rendering: bundled @viz-js/viz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Mermaid flow: heavy delay, Q feint, hit resolution, restart and character reselection</a:t>
            </a:r>
          </a:p>
          <a:p xmlns:a="http://schemas.openxmlformats.org/drawingml/2006/main">
            <a:r>
              <a:t>- Local project contracts: 24/6/24 heavy attack, +8-tick delay, 16-tick feint recovery, 60-second round</a:t>
            </a:r>
          </a:p>
          <a:p xmlns:a="http://schemas.openxmlformats.org/drawingml/2006/main">
            <a:r>
              <a:t>- Diagram rendering: bundled @viz-js/viz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src/presentationData.ts (countdown and ring dimensions)</a:t>
            </a:r>
          </a:p>
          <a:p xmlns:a="http://schemas.openxmlformats.org/drawingml/2006/main">
            <a:r>
              <a:t>- Local project: src/combatTelegraph.ts</a:t>
            </a:r>
          </a:p>
          <a:p xmlns:a="http://schemas.openxmlformats.org/drawingml/2006/main">
            <a:r>
              <a:t>- Local project: src/main.ts (HUD, trails, F3 overlay)</a:t>
            </a:r>
          </a:p>
          <a:p xmlns:a="http://schemas.openxmlformats.org/drawingml/2006/main">
            <a:r>
              <a:t>- Local project: src/healthHud.ts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README.md</a:t>
            </a:r>
          </a:p>
          <a:p xmlns:a="http://schemas.openxmlformats.org/drawingml/2006/main">
            <a:r>
              <a:t>- Local project: src/authSession.ts</a:t>
            </a:r>
          </a:p>
          <a:p xmlns:a="http://schemas.openxmlformats.org/drawingml/2006/main">
            <a:r>
              <a:t>- Local project: src/playerLoadout.ts</a:t>
            </a:r>
          </a:p>
          <a:p xmlns:a="http://schemas.openxmlformats.org/drawingml/2006/main">
            <a:r>
              <a:t>- Local project: src/characterProfiles.ts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package.json</a:t>
            </a:r>
          </a:p>
          <a:p xmlns:a="http://schemas.openxmlformats.org/drawingml/2006/main">
            <a:r>
              <a:t>- Local project: README.md</a:t>
            </a:r>
          </a:p>
          <a:p xmlns:a="http://schemas.openxmlformats.org/drawingml/2006/main">
            <a:r>
              <a:t>- Local project: src directory module structure</a:t>
            </a:r>
          </a:p>
          <a:p xmlns:a="http://schemas.openxmlformats.org/drawingml/2006/main">
            <a:r>
              <a:t>- Local project: tests directory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discussion: prioritized feature roadmap</a:t>
            </a:r>
          </a:p>
          <a:p xmlns:a="http://schemas.openxmlformats.org/drawingml/2006/main">
            <a:r>
              <a:t>- Local source deck: existing flowchart visual pattern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discussion: login, personal page, multiplayer requirements</a:t>
            </a:r>
          </a:p>
          <a:p xmlns:a="http://schemas.openxmlformats.org/drawingml/2006/main">
            <a:r>
              <a:t>- Local project: current LoginScene / MainMenuScene / WarehouseScene / CombatScene 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discussion: training, match loop, targeting, sound priorities</a:t>
            </a:r>
          </a:p>
          <a:p xmlns:a="http://schemas.openxmlformats.org/drawingml/2006/main">
            <a:r>
              <a:t>- Local project: current combat readability and mobility contracts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discussion: real login server and personal inventory / trait page</a:t>
            </a:r>
          </a:p>
          <a:p xmlns:a="http://schemas.openxmlformats.org/drawingml/2006/main">
            <a:r>
              <a:t>- Local project: authSession.ts and playerLoadout.ts prototype boundary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discussion: maps, 2v2, 3v3 modes</a:t>
            </a:r>
          </a:p>
          <a:p xmlns:a="http://schemas.openxmlformats.org/drawingml/2006/main">
            <a:r>
              <a:t>- Local project: 60Hz fixed-tick combat foundation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discussion: multiplayer readability and accessibility needs</a:t>
            </a:r>
          </a:p>
          <a:p xmlns:a="http://schemas.openxmlformats.org/drawingml/2006/main">
            <a:r>
              <a:t>- Local project: current health HUD and combat telegraph patterns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discussion: agreed implementation order and completion gates</a:t>
            </a:r>
          </a:p>
          <a:p xmlns:a="http://schemas.openxmlformats.org/drawingml/2006/main">
            <a:r>
              <a:t>- Local project: current tested graybox prototype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discussion: login server, personal page, maps, 2v2/3v3, effects and character design are not yet developed</a:t>
            </a:r>
          </a:p>
          <a:p xmlns:a="http://schemas.openxmlformats.org/drawingml/2006/main">
            <a:r>
              <a:t>- Development order is a dependency-based synthesis of the existing local roadmap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discussion: login is required before the multiplayer main flow</a:t>
            </a:r>
          </a:p>
          <a:p xmlns:a="http://schemas.openxmlformats.org/drawingml/2006/main">
            <a:r>
              <a:t>- Completion criteria are implementation guidance, not claims about existing functionality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local combat contract: 60Hz fixed-tick gameplay</a:t>
            </a:r>
          </a:p>
          <a:p xmlns:a="http://schemas.openxmlformats.org/drawingml/2006/main">
            <a:r>
              <a:t>- Server-authoritative migration is proposed implementation guidance for the unbuilt online mode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discussion: personal inventory and traits, maps, 2v2/3v3, effects and character design</a:t>
            </a:r>
          </a:p>
          <a:p xmlns:a="http://schemas.openxmlformats.org/drawingml/2006/main">
            <a:r>
              <a:t>- The sequence intentionally defers team modes and final art until Online 1v1 is stable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request: make the next unbuilt development work and implementation method explicit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3022cabfa4b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1814fe04504fc0" /><Relationship Type="http://schemas.openxmlformats.org/officeDocument/2006/relationships/slideLayout" Target="/ppt/slideLayouts/slideLayout1.xml" Id="R27da82dbde334e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da82dbde334e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54be194d74860" /><Relationship Type="http://schemas.openxmlformats.org/officeDocument/2006/relationships/image" Target="/ppt/media/image.png" Id="Re609a48094ea4ab1" /><Relationship Type="http://schemas.openxmlformats.org/officeDocument/2006/relationships/notesSlide" Target="/ppt/notesSlides/notesSlide1.xml" Id="R12435a068c9541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21892e4f246c6" /><Relationship Type="http://schemas.openxmlformats.org/officeDocument/2006/relationships/notesSlide" Target="/ppt/notesSlides/notesSlide2.xml" Id="Rf34bb71dfdc547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2122a48af443a" /><Relationship Type="http://schemas.openxmlformats.org/officeDocument/2006/relationships/notesSlide" Target="/ppt/notesSlides/notesSlide3.xml" Id="R16576034fd0943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7c3641edf45ba" /><Relationship Type="http://schemas.openxmlformats.org/officeDocument/2006/relationships/notesSlide" Target="/ppt/notesSlides/notesSlide4.xml" Id="R1228e2ea026647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5547de17941cb" /><Relationship Type="http://schemas.openxmlformats.org/officeDocument/2006/relationships/notesSlide" Target="/ppt/notesSlides/notesSlide5.xml" Id="Ra63c8bdb1ec643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fc8daf0254b6f" /><Relationship Type="http://schemas.openxmlformats.org/officeDocument/2006/relationships/notesSlide" Target="/ppt/notesSlides/notesSlide6.xml" Id="Rde91d41b280f48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f770d94db4b03" /><Relationship Type="http://schemas.openxmlformats.org/officeDocument/2006/relationships/image" Target="/ppt/media/image2.png" Id="Rf953756459444d60" /><Relationship Type="http://schemas.openxmlformats.org/officeDocument/2006/relationships/image" Target="/ppt/media/image3.png" Id="R43ec113f515f428f" /><Relationship Type="http://schemas.openxmlformats.org/officeDocument/2006/relationships/notesSlide" Target="/ppt/notesSlides/notesSlide7.xml" Id="Rda01570c453644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b2f7f37ee4d2e" /><Relationship Type="http://schemas.openxmlformats.org/officeDocument/2006/relationships/image" Target="/ppt/media/image4.png" Id="R476165c960ae4873" /><Relationship Type="http://schemas.openxmlformats.org/officeDocument/2006/relationships/image" Target="/ppt/media/image5.png" Id="R071731f51ed14bdd" /><Relationship Type="http://schemas.openxmlformats.org/officeDocument/2006/relationships/notesSlide" Target="/ppt/notesSlides/notesSlide8.xml" Id="R358faff8919346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db6065a6143c6" /><Relationship Type="http://schemas.openxmlformats.org/officeDocument/2006/relationships/notesSlide" Target="/ppt/notesSlides/notesSlide9.xml" Id="Re2762cce530048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e83070a474cd4" /><Relationship Type="http://schemas.openxmlformats.org/officeDocument/2006/relationships/notesSlide" Target="/ppt/notesSlides/notesSlide10.xml" Id="R8f1a9ae9aaf440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759c8e1fc4a20" /><Relationship Type="http://schemas.openxmlformats.org/officeDocument/2006/relationships/notesSlide" Target="/ppt/notesSlides/notesSlide11.xml" Id="R8af4f68d49c049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7270d9ad3417d" /><Relationship Type="http://schemas.openxmlformats.org/officeDocument/2006/relationships/notesSlide" Target="/ppt/notesSlides/notesSlide12.xml" Id="Reec111977dce4b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bcc9903ba449d" /><Relationship Type="http://schemas.openxmlformats.org/officeDocument/2006/relationships/notesSlide" Target="/ppt/notesSlides/notesSlide13.xml" Id="Rd07fe6a59b504a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b98be1fe14bea" /><Relationship Type="http://schemas.openxmlformats.org/officeDocument/2006/relationships/notesSlide" Target="/ppt/notesSlides/notesSlide14.xml" Id="Raee7f0a8113046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b7aa51c0a4bb5" /><Relationship Type="http://schemas.openxmlformats.org/officeDocument/2006/relationships/notesSlide" Target="/ppt/notesSlides/notesSlide15.xml" Id="R31bb9ad2e51648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e8f0c9c804e85" /><Relationship Type="http://schemas.openxmlformats.org/officeDocument/2006/relationships/notesSlide" Target="/ppt/notesSlides/notesSlide16.xml" Id="Rdaea560a00c741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d9e099c474d01" /><Relationship Type="http://schemas.openxmlformats.org/officeDocument/2006/relationships/notesSlide" Target="/ppt/notesSlides/notesSlide17.xml" Id="R037dc8c93ffe40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4d010adb74339" /><Relationship Type="http://schemas.openxmlformats.org/officeDocument/2006/relationships/notesSlide" Target="/ppt/notesSlides/notesSlide18.xml" Id="Ra74f0c92f1724c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0ef5b7af2477a" /><Relationship Type="http://schemas.openxmlformats.org/officeDocument/2006/relationships/notesSlide" Target="/ppt/notesSlides/notesSlide19.xml" Id="Rdd1386d99af04c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2945757ab4434" /><Relationship Type="http://schemas.openxmlformats.org/officeDocument/2006/relationships/notesSlide" Target="/ppt/notesSlides/notesSlide20.xml" Id="R6a0a9e32b57643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d2423274b47ef" /><Relationship Type="http://schemas.openxmlformats.org/officeDocument/2006/relationships/notesSlide" Target="/ppt/notesSlides/notesSlide21.xml" Id="R8b793632a7cb466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04b73f9c640f8" /><Relationship Type="http://schemas.openxmlformats.org/officeDocument/2006/relationships/notesSlide" Target="/ppt/notesSlides/notesSlide22.xml" Id="Rbcf9138b0887455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90500778749c4" /><Relationship Type="http://schemas.openxmlformats.org/officeDocument/2006/relationships/notesSlide" Target="/ppt/notesSlides/notesSlide23.xml" Id="R0c814c3c17704f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DD66657-4317-4F23-855F-13873B6A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07593BD-2D7A-4CF7-B430-2ADD2812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WEB GAME DOCUMENTATION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D68910E-BB54-49EE-9491-3896CC0C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048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B0D10"/>
                </a:solidFill>
              </a:defRPr>
            </a:pPr>
            <a:r>
              <a:rPr sz="4950" b="1">
                <a:solidFill>
                  <a:srgbClr val="0B0D10"/>
                </a:solidFill>
              </a:rPr>
              <a:t>NEON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B0D10"/>
                </a:solidFill>
              </a:defRPr>
            </a:pPr>
            <a:r>
              <a:rPr sz="4950" b="1">
                <a:solidFill>
                  <a:srgbClr val="0B0D10"/>
                </a:solidFill>
              </a:rPr>
              <a:t>BLADE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9DF8C0F-7656-4C08-A625-DB0AC68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10"/>
                </a:solidFill>
              </a:defRPr>
            </a:pPr>
            <a:r>
              <a:rPr sz="2250" b="1">
                <a:solidFill>
                  <a:srgbClr val="0B0D10"/>
                </a:solidFill>
              </a:rPr>
              <a:t>60Hz 결정론 기반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0B0D10"/>
                </a:solidFill>
              </a:defRPr>
            </a:pPr>
            <a:r>
              <a:rPr sz="2250" b="1">
                <a:solidFill>
                  <a:srgbClr val="0B0D10"/>
                </a:solidFill>
              </a:rPr>
              <a:t>1대1 검투 액션 그레이박스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A3EE71D0-D5EB-4BE5-B8FF-100E8F4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Phaser 3 · TypeScript · Vite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전투 판정, 가독성, 입력 반응을 검증하는 웹 프로토타입</a:t>
            </a:r>
          </a:p>
        </p:txBody>
      </p:sp>
      <p:sp>
        <p:nvSpPr>
          <p:cNvPr id="6" name="cover-bottom-rule">
            <a:extLst xmlns:a="http://schemas.openxmlformats.org/drawingml/2006/main">
              <a:ext uri="{FF2B5EF4-FFF2-40B4-BE49-F238E27FC236}">
                <a16:creationId xmlns:a16="http://schemas.microsoft.com/office/drawing/2014/main" id="{AB2A3335-C16F-46A7-96AB-12A00072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497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3FD32340-49BA-4D95-94F7-E2C6D675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6773"/>
                </a:solidFill>
              </a:defRPr>
            </a:pPr>
            <a:r>
              <a:rPr sz="1125" b="0">
                <a:solidFill>
                  <a:srgbClr val="606773"/>
                </a:solidFill>
              </a:rPr>
              <a:t>2026.08 · PROJECT OVERVIEW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9a48094ea4ab1"/>
          <a:srcRect xmlns:a="http://schemas.openxmlformats.org/drawingml/2006/main" l="21016" t="0" r="210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381000"/>
            <a:ext cx="5886450" cy="5715000"/>
          </a:xfrm>
          <a:prstGeom xmlns:a="http://schemas.openxmlformats.org/drawingml/2006/main" prst="rect">
            <a:avLst/>
          </a:prstGeom>
        </p:spPr>
      </p:pic>
      <p:sp>
        <p:nvSpPr>
          <p:cNvPr id="9" name="cover-page">
            <a:extLst xmlns:a="http://schemas.openxmlformats.org/drawingml/2006/main">
              <a:ext uri="{FF2B5EF4-FFF2-40B4-BE49-F238E27FC236}">
                <a16:creationId xmlns:a16="http://schemas.microsoft.com/office/drawing/2014/main" id="{F1BC6504-2550-406F-BD47-75D5F264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8908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ummary-kicker">
            <a:extLst xmlns:a="http://schemas.openxmlformats.org/drawingml/2006/main">
              <a:ext uri="{FF2B5EF4-FFF2-40B4-BE49-F238E27FC236}">
                <a16:creationId xmlns:a16="http://schemas.microsoft.com/office/drawing/2014/main" id="{B243AB83-178A-46D5-A9D8-03C398AD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GAME SUMMARY</a:t>
            </a:r>
          </a:p>
        </p:txBody>
      </p:sp>
      <p:sp>
        <p:nvSpPr>
          <p:cNvPr id="2" name="summary-meta">
            <a:extLst xmlns:a="http://schemas.openxmlformats.org/drawingml/2006/main">
              <a:ext uri="{FF2B5EF4-FFF2-40B4-BE49-F238E27FC236}">
                <a16:creationId xmlns:a16="http://schemas.microsoft.com/office/drawing/2014/main" id="{744B20CD-38F1-4CB0-A1F2-1FAFF5C1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"/>
            <a:ext cx="3790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B0D10"/>
                </a:solidFill>
              </a:defRPr>
            </a:pPr>
            <a:r>
              <a:rPr sz="1650" b="1">
                <a:solidFill>
                  <a:srgbClr val="0B0D10"/>
                </a:solidFill>
              </a:rPr>
              <a:t>60 Hz · 1v1 · BROWSER</a:t>
            </a:r>
          </a:p>
        </p:txBody>
      </p:sp>
      <p:sp>
        <p:nvSpPr>
          <p:cNvPr id="3" name="summary-statement">
            <a:extLst xmlns:a="http://schemas.openxmlformats.org/drawingml/2006/main">
              <a:ext uri="{FF2B5EF4-FFF2-40B4-BE49-F238E27FC236}">
                <a16:creationId xmlns:a16="http://schemas.microsoft.com/office/drawing/2014/main" id="{41822B65-83E6-462C-A469-2B3FE675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99060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B0D10"/>
                </a:solidFill>
              </a:defRPr>
            </a:pPr>
            <a:r>
              <a:rPr sz="5250" b="1">
                <a:solidFill>
                  <a:srgbClr val="0B0D10"/>
                </a:solidFill>
              </a:rPr>
              <a:t>공격을 읽고,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0B0D10"/>
                </a:solidFill>
              </a:defRPr>
            </a:pPr>
            <a:r>
              <a:rPr sz="5250" b="1">
                <a:solidFill>
                  <a:srgbClr val="0B0D10"/>
                </a:solidFill>
              </a:rPr>
              <a:t>한 박자 먼저 대응하는 게임</a:t>
            </a:r>
          </a:p>
        </p:txBody>
      </p:sp>
      <p:sp>
        <p:nvSpPr>
          <p:cNvPr id="4" name="summary-rule">
            <a:extLst xmlns:a="http://schemas.openxmlformats.org/drawingml/2006/main">
              <a:ext uri="{FF2B5EF4-FFF2-40B4-BE49-F238E27FC236}">
                <a16:creationId xmlns:a16="http://schemas.microsoft.com/office/drawing/2014/main" id="{38F0FA4E-02A5-4469-9A47-AC085A5C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91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mmary-page">
            <a:extLst xmlns:a="http://schemas.openxmlformats.org/drawingml/2006/main">
              <a:ext uri="{FF2B5EF4-FFF2-40B4-BE49-F238E27FC236}">
                <a16:creationId xmlns:a16="http://schemas.microsoft.com/office/drawing/2014/main" id="{15E76858-B223-4584-A39B-A11B1F77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8489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7E01F361-9231-4A11-82A7-6EB7BB6D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PLAYER JOURNEY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DF8B227-02DF-478E-A352-E45CF927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플레이 흐름은 로그인부터 결투까지 끊김 없이 이어진다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CA0CF513-83BA-4CD4-9B1C-E7DF213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56AD6109-4013-4F44-9BFB-0721246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03</a:t>
            </a:r>
          </a:p>
        </p:txBody>
      </p:sp>
      <p:sp>
        <p:nvSpPr>
          <p:cNvPr id="5" name="journey-subtitle">
            <a:extLst xmlns:a="http://schemas.openxmlformats.org/drawingml/2006/main">
              <a:ext uri="{FF2B5EF4-FFF2-40B4-BE49-F238E27FC236}">
                <a16:creationId xmlns:a16="http://schemas.microsoft.com/office/drawing/2014/main" id="{40C082CC-2B4F-48D5-8C35-3FF41EFD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브라우저 세션으로 진입을 제어하고, 선택한 로드아웃을 유지한 채 바로 전투에 배치한다.</a:t>
            </a:r>
          </a:p>
        </p:txBody>
      </p:sp>
      <p:sp>
        <p:nvSpPr>
          <p:cNvPr id="6" name="journey-connector">
            <a:extLst xmlns:a="http://schemas.openxmlformats.org/drawingml/2006/main">
              <a:ext uri="{FF2B5EF4-FFF2-40B4-BE49-F238E27FC236}">
                <a16:creationId xmlns:a16="http://schemas.microsoft.com/office/drawing/2014/main" id="{43B9E5C7-E938-4184-B578-3533C64D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0425"/>
            <a:ext cx="969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C8EA6144-1432-469A-8801-D0840A91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A9148166-7C0D-4127-BEB3-9024AA3C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journey-title-0">
            <a:extLst xmlns:a="http://schemas.openxmlformats.org/drawingml/2006/main">
              <a:ext uri="{FF2B5EF4-FFF2-40B4-BE49-F238E27FC236}">
                <a16:creationId xmlns:a16="http://schemas.microsoft.com/office/drawing/2014/main" id="{04DDDA4E-5ED1-4C5E-9C31-886F793F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SIGN IN</a:t>
            </a:r>
          </a:p>
        </p:txBody>
      </p:sp>
      <p:sp>
        <p:nvSpPr>
          <p:cNvPr id="10" name="journey-body-0">
            <a:extLst xmlns:a="http://schemas.openxmlformats.org/drawingml/2006/main">
              <a:ext uri="{FF2B5EF4-FFF2-40B4-BE49-F238E27FC236}">
                <a16:creationId xmlns:a16="http://schemas.microsoft.com/office/drawing/2014/main" id="{0C330F27-961D-4EC9-84D0-B4FA1DED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플레이어 ID와 4자 이상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프로토타입 비밀번호</a:t>
            </a:r>
          </a:p>
        </p:txBody>
      </p:sp>
      <p:sp>
        <p:nvSpPr>
          <p:cNvPr id="11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5F25C523-E5E7-49CB-9747-3B38B45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7AF25DE1-109B-49C4-AF9B-53F5C7A3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1137D6F0-4A98-4397-8843-3452C189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MAIN MENU</a:t>
            </a:r>
          </a:p>
        </p:txBody>
      </p:sp>
      <p:sp>
        <p:nvSpPr>
          <p:cNvPr id="14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CBC4836A-60CB-4923-9C91-3D928E6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Quick Match 또는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Warehouse 선택</a:t>
            </a:r>
          </a:p>
        </p:txBody>
      </p:sp>
      <p:sp>
        <p:nvSpPr>
          <p:cNvPr id="15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1313A468-6E54-431C-8F15-FBA34D0F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27E21C65-E1FA-4108-9018-E4089DC8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00202189-7CB3-437E-8787-4B318AD6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WAREHOUSE</a:t>
            </a:r>
          </a:p>
        </p:txBody>
      </p:sp>
      <p:sp>
        <p:nvSpPr>
          <p:cNvPr id="18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CCFE8FAD-0A95-4D96-9FE1-68550FDE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캐릭터·특성·아이템을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선택하고 저장</a:t>
            </a:r>
          </a:p>
        </p:txBody>
      </p:sp>
      <p:sp>
        <p:nvSpPr>
          <p:cNvPr id="19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FC52F919-CF40-475E-A63E-CFE7A913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73F974CF-F5FD-4767-83E7-753522FD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719D23DC-E0C0-475D-98FE-0816176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COMBAT</a:t>
            </a:r>
          </a:p>
        </p:txBody>
      </p:sp>
      <p:sp>
        <p:nvSpPr>
          <p:cNvPr id="22" name="journey-body-3">
            <a:extLst xmlns:a="http://schemas.openxmlformats.org/drawingml/2006/main">
              <a:ext uri="{FF2B5EF4-FFF2-40B4-BE49-F238E27FC236}">
                <a16:creationId xmlns:a16="http://schemas.microsoft.com/office/drawing/2014/main" id="{471B7D2F-48A4-40C8-A5E6-E0F770D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60초 라운드에서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AI 라이벌과 1대1 결투</a:t>
            </a:r>
          </a:p>
        </p:txBody>
      </p:sp>
      <p:sp>
        <p:nvSpPr>
          <p:cNvPr id="23" name="journey-return">
            <a:extLst xmlns:a="http://schemas.openxmlformats.org/drawingml/2006/main">
              <a:ext uri="{FF2B5EF4-FFF2-40B4-BE49-F238E27FC236}">
                <a16:creationId xmlns:a16="http://schemas.microsoft.com/office/drawing/2014/main" id="{106CD7BC-B0E9-4217-A441-8FEBAB5D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3DB2"/>
                </a:solidFill>
              </a:defRPr>
            </a:pPr>
            <a:r>
              <a:rPr sz="1425" b="1">
                <a:solidFill>
                  <a:srgbClr val="D93DB2"/>
                </a:solidFill>
              </a:rPr>
              <a:t>ESC → 메인 메뉴 · R → 즉시 라운드 재시작</a:t>
            </a:r>
          </a:p>
        </p:txBody>
      </p:sp>
    </p:spTree>
    <p:extLst>
      <p:ext uri="{BB962C8B-B14F-4D97-AF65-F5344CB8AC3E}">
        <p14:creationId xmlns:p14="http://schemas.microsoft.com/office/powerpoint/2010/main" val="945748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4">
            <a:extLst xmlns:a="http://schemas.openxmlformats.org/drawingml/2006/main">
              <a:ext uri="{FF2B5EF4-FFF2-40B4-BE49-F238E27FC236}">
                <a16:creationId xmlns:a16="http://schemas.microsoft.com/office/drawing/2014/main" id="{6C864835-A1BE-4EAC-B981-78DD3215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CONTROLS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5EF6802-BE2B-48BD-9BE3-CCD435FA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입력은 이동·공격·회피를 같은 화면에서 즉시 조합한다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860BF5C3-6E3F-4746-BB96-DD6C315F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7699B695-0B78-4FC3-B667-871E92C1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04</a:t>
            </a:r>
          </a:p>
        </p:txBody>
      </p:sp>
      <p:sp>
        <p:nvSpPr>
          <p:cNvPr id="5" name="controls-subtitle">
            <a:extLst xmlns:a="http://schemas.openxmlformats.org/drawingml/2006/main">
              <a:ext uri="{FF2B5EF4-FFF2-40B4-BE49-F238E27FC236}">
                <a16:creationId xmlns:a16="http://schemas.microsoft.com/office/drawing/2014/main" id="{D7B039C9-5D2F-4EE4-B3B0-4E6056E2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마우스 조준과 키보드 이동을 결합하고, 타이밍 입력으로 패링·페인트·대시를 구분한다.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247900"/>
          <a:ext xmlns:a="http://schemas.openxmlformats.org/drawingml/2006/main" cx="113919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476500"/>
                <a:gridCol w="6724650"/>
              </a:tblGrid>
              <a:tr h="47863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기능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동작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WASD + Mouse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이동·조준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이동 방향과 공격 방향을 분리</a:t>
                      </a:r>
                    </a:p>
                  </a:txBody>
                  <a:tcPr marL="91440" marR="91440" marT="45720" marB="45720"/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WASD 두 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그라운드 대시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10틱 안에 재입력 · 무적 없음 · 대각선 조합 가능</a:t>
                      </a:r>
                    </a:p>
                  </a:txBody>
                  <a:tcPr marL="91440" marR="91440" marT="45720" marB="45720"/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Space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방향 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2틱 준비 뒤 8틱 무적 · 2회 충전</a:t>
                      </a:r>
                    </a:p>
                  </a:txBody>
                  <a:tcPr marL="91440" marR="91440" marT="45720" marB="45720"/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LMB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블레이드 인터셉트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접촉 직전 3틱 패링 · 미접촉 시 경공격으로 연결</a:t>
                      </a:r>
                    </a:p>
                  </a:txBody>
                  <a:tcPr marL="91440" marR="91440" marT="45720" marB="45720"/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RMB / Shift+RMB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강공격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기본 강공격 또는 시작 시 8프레임 지연</a:t>
                      </a:r>
                    </a:p>
                  </a:txBody>
                  <a:tcPr marL="91440" marR="91440" marT="45720" marB="45720"/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Q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페인트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커밋 전 합법 구간에서 공격 취소</a:t>
                      </a:r>
                    </a:p>
                  </a:txBody>
                  <a:tcPr marL="91440" marR="91440" marT="45720" marB="45720"/>
                </a:tc>
              </a:tr>
              <a:tr h="4786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R / Esc / F3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운영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재시작 / 메뉴 복귀 / 디버그 오버레이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03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5">
            <a:extLst xmlns:a="http://schemas.openxmlformats.org/drawingml/2006/main">
              <a:ext uri="{FF2B5EF4-FFF2-40B4-BE49-F238E27FC236}">
                <a16:creationId xmlns:a16="http://schemas.microsoft.com/office/drawing/2014/main" id="{3BEF3ECF-19DD-4A7F-884D-AE73E5CF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COMBAT CORE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6C28636-BD2C-4365-8366-9085B8D0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전투의 핵심은 네 가지 선택 사이의 위험 교환이다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DCF53E14-D42D-4135-A43F-8CE5DB6E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3339435B-2E68-41B6-98E4-0A6FA5B3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05</a:t>
            </a:r>
          </a:p>
        </p:txBody>
      </p:sp>
      <p:sp>
        <p:nvSpPr>
          <p:cNvPr id="5" name="combat-v-rule">
            <a:extLst xmlns:a="http://schemas.openxmlformats.org/drawingml/2006/main">
              <a:ext uri="{FF2B5EF4-FFF2-40B4-BE49-F238E27FC236}">
                <a16:creationId xmlns:a16="http://schemas.microsoft.com/office/drawing/2014/main" id="{F523F65C-EA6E-43B3-A575-2B84AACE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bat-h-rule">
            <a:extLst xmlns:a="http://schemas.openxmlformats.org/drawingml/2006/main">
              <a:ext uri="{FF2B5EF4-FFF2-40B4-BE49-F238E27FC236}">
                <a16:creationId xmlns:a16="http://schemas.microsoft.com/office/drawing/2014/main" id="{3A459A25-A56B-4248-B0C4-519C070B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bat-tag-0">
            <a:extLst xmlns:a="http://schemas.openxmlformats.org/drawingml/2006/main">
              <a:ext uri="{FF2B5EF4-FFF2-40B4-BE49-F238E27FC236}">
                <a16:creationId xmlns:a16="http://schemas.microsoft.com/office/drawing/2014/main" id="{E702B166-E28B-444E-BDE2-864E41A5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C6F4"/>
                </a:solidFill>
              </a:defRPr>
            </a:pPr>
            <a:r>
              <a:rPr sz="1275" b="1">
                <a:solidFill>
                  <a:srgbClr val="39C6F4"/>
                </a:solidFill>
              </a:rPr>
              <a:t>LIGHT</a:t>
            </a:r>
          </a:p>
        </p:txBody>
      </p:sp>
      <p:sp>
        <p:nvSpPr>
          <p:cNvPr id="8" name="combat-title-0">
            <a:extLst xmlns:a="http://schemas.openxmlformats.org/drawingml/2006/main">
              <a:ext uri="{FF2B5EF4-FFF2-40B4-BE49-F238E27FC236}">
                <a16:creationId xmlns:a16="http://schemas.microsoft.com/office/drawing/2014/main" id="{EB502B91-0F10-41DE-8027-0993C226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0D10"/>
                </a:solidFill>
              </a:defRPr>
            </a:pPr>
            <a:r>
              <a:rPr sz="1950" b="1">
                <a:solidFill>
                  <a:srgbClr val="0B0D10"/>
                </a:solidFill>
              </a:rPr>
              <a:t>빠른 압박</a:t>
            </a:r>
          </a:p>
        </p:txBody>
      </p:sp>
      <p:sp>
        <p:nvSpPr>
          <p:cNvPr id="9" name="combat-metric-0">
            <a:extLst xmlns:a="http://schemas.openxmlformats.org/drawingml/2006/main">
              <a:ext uri="{FF2B5EF4-FFF2-40B4-BE49-F238E27FC236}">
                <a16:creationId xmlns:a16="http://schemas.microsoft.com/office/drawing/2014/main" id="{E1A46707-4495-4C5F-9EA2-6789F193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9C6F4"/>
                </a:solidFill>
              </a:defRPr>
            </a:pPr>
            <a:r>
              <a:rPr sz="2250" b="1">
                <a:solidFill>
                  <a:srgbClr val="39C6F4"/>
                </a:solidFill>
              </a:rPr>
              <a:t>12 / 4 / 12</a:t>
            </a:r>
          </a:p>
        </p:txBody>
      </p:sp>
      <p:sp>
        <p:nvSpPr>
          <p:cNvPr id="10" name="combat-body-0">
            <a:extLst xmlns:a="http://schemas.openxmlformats.org/drawingml/2006/main">
              <a:ext uri="{FF2B5EF4-FFF2-40B4-BE49-F238E27FC236}">
                <a16:creationId xmlns:a16="http://schemas.microsoft.com/office/drawing/2014/main" id="{359E2D58-60B5-4BB9-8A54-5DFF4F05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준비 / 활성 / 피해.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짧은 회수로 간결한 확인 공격.</a:t>
            </a:r>
          </a:p>
        </p:txBody>
      </p:sp>
      <p:sp>
        <p:nvSpPr>
          <p:cNvPr id="11" name="combat-tag-1">
            <a:extLst xmlns:a="http://schemas.openxmlformats.org/drawingml/2006/main">
              <a:ext uri="{FF2B5EF4-FFF2-40B4-BE49-F238E27FC236}">
                <a16:creationId xmlns:a16="http://schemas.microsoft.com/office/drawing/2014/main" id="{103C1B98-4249-4CAF-9DF1-991EE255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3DB2"/>
                </a:solidFill>
              </a:defRPr>
            </a:pPr>
            <a:r>
              <a:rPr sz="1275" b="1">
                <a:solidFill>
                  <a:srgbClr val="D93DB2"/>
                </a:solidFill>
              </a:rPr>
              <a:t>HEAVY</a:t>
            </a:r>
          </a:p>
        </p:txBody>
      </p:sp>
      <p:sp>
        <p:nvSpPr>
          <p:cNvPr id="12" name="combat-title-1">
            <a:extLst xmlns:a="http://schemas.openxmlformats.org/drawingml/2006/main">
              <a:ext uri="{FF2B5EF4-FFF2-40B4-BE49-F238E27FC236}">
                <a16:creationId xmlns:a16="http://schemas.microsoft.com/office/drawing/2014/main" id="{1A8C769C-1FB3-4C05-99FC-9EB5EC69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288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0D10"/>
                </a:solidFill>
              </a:defRPr>
            </a:pPr>
            <a:r>
              <a:rPr sz="1950" b="1">
                <a:solidFill>
                  <a:srgbClr val="0B0D10"/>
                </a:solidFill>
              </a:rPr>
              <a:t>느리지만 큰 보상</a:t>
            </a:r>
          </a:p>
        </p:txBody>
      </p:sp>
      <p:sp>
        <p:nvSpPr>
          <p:cNvPr id="13" name="combat-metric-1">
            <a:extLst xmlns:a="http://schemas.openxmlformats.org/drawingml/2006/main">
              <a:ext uri="{FF2B5EF4-FFF2-40B4-BE49-F238E27FC236}">
                <a16:creationId xmlns:a16="http://schemas.microsoft.com/office/drawing/2014/main" id="{1795578D-2B80-428B-B6DE-F4F5710F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3DB2"/>
                </a:solidFill>
              </a:defRPr>
            </a:pPr>
            <a:r>
              <a:rPr sz="2250" b="1">
                <a:solidFill>
                  <a:srgbClr val="D93DB2"/>
                </a:solidFill>
              </a:rPr>
              <a:t>24 / 6 / 24</a:t>
            </a:r>
          </a:p>
        </p:txBody>
      </p:sp>
      <p:sp>
        <p:nvSpPr>
          <p:cNvPr id="14" name="combat-body-1">
            <a:extLst xmlns:a="http://schemas.openxmlformats.org/drawingml/2006/main">
              <a:ext uri="{FF2B5EF4-FFF2-40B4-BE49-F238E27FC236}">
                <a16:creationId xmlns:a16="http://schemas.microsoft.com/office/drawing/2014/main" id="{7FB65A2A-39FA-4C6D-9869-3F76B70D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더 긴 리치와 넉백.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Shift로 8프레임 타이밍 흔들기.</a:t>
            </a:r>
          </a:p>
        </p:txBody>
      </p:sp>
      <p:sp>
        <p:nvSpPr>
          <p:cNvPr id="15" name="combat-tag-2">
            <a:extLst xmlns:a="http://schemas.openxmlformats.org/drawingml/2006/main">
              <a:ext uri="{FF2B5EF4-FFF2-40B4-BE49-F238E27FC236}">
                <a16:creationId xmlns:a16="http://schemas.microsoft.com/office/drawing/2014/main" id="{2DB84A07-AFC0-475E-B8EC-479D4F03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D84F"/>
                </a:solidFill>
              </a:defRPr>
            </a:pPr>
            <a:r>
              <a:rPr sz="1275" b="1">
                <a:solidFill>
                  <a:srgbClr val="FFD84F"/>
                </a:solidFill>
              </a:rPr>
              <a:t>PARRY</a:t>
            </a:r>
          </a:p>
        </p:txBody>
      </p:sp>
      <p:sp>
        <p:nvSpPr>
          <p:cNvPr id="16" name="combat-title-2">
            <a:extLst xmlns:a="http://schemas.openxmlformats.org/drawingml/2006/main">
              <a:ext uri="{FF2B5EF4-FFF2-40B4-BE49-F238E27FC236}">
                <a16:creationId xmlns:a16="http://schemas.microsoft.com/office/drawing/2014/main" id="{DD9FF71B-8549-4D2D-B1E9-5E24EA85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0D10"/>
                </a:solidFill>
              </a:defRPr>
            </a:pPr>
            <a:r>
              <a:rPr sz="1950" b="1">
                <a:solidFill>
                  <a:srgbClr val="0B0D10"/>
                </a:solidFill>
              </a:rPr>
              <a:t>접촉 직전 역전</a:t>
            </a:r>
          </a:p>
        </p:txBody>
      </p:sp>
      <p:sp>
        <p:nvSpPr>
          <p:cNvPr id="17" name="combat-metric-2">
            <a:extLst xmlns:a="http://schemas.openxmlformats.org/drawingml/2006/main">
              <a:ext uri="{FF2B5EF4-FFF2-40B4-BE49-F238E27FC236}">
                <a16:creationId xmlns:a16="http://schemas.microsoft.com/office/drawing/2014/main" id="{3DD4EBEE-B094-4F21-B5C6-63BBF345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863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D84F"/>
                </a:solidFill>
              </a:defRPr>
            </a:pPr>
            <a:r>
              <a:rPr sz="2250" b="1">
                <a:solidFill>
                  <a:srgbClr val="FFD84F"/>
                </a:solidFill>
              </a:rPr>
              <a:t>3 → 60 ticks</a:t>
            </a:r>
          </a:p>
        </p:txBody>
      </p:sp>
      <p:sp>
        <p:nvSpPr>
          <p:cNvPr id="18" name="combat-body-2">
            <a:extLst xmlns:a="http://schemas.openxmlformats.org/drawingml/2006/main">
              <a:ext uri="{FF2B5EF4-FFF2-40B4-BE49-F238E27FC236}">
                <a16:creationId xmlns:a16="http://schemas.microsoft.com/office/drawing/2014/main" id="{46753DCE-DD4E-4686-8A20-B793E958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LMB 인터셉트 성공 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상대는 1초간 패리 브레이크.</a:t>
            </a:r>
          </a:p>
        </p:txBody>
      </p:sp>
      <p:sp>
        <p:nvSpPr>
          <p:cNvPr id="19" name="combat-tag-3">
            <a:extLst xmlns:a="http://schemas.openxmlformats.org/drawingml/2006/main">
              <a:ext uri="{FF2B5EF4-FFF2-40B4-BE49-F238E27FC236}">
                <a16:creationId xmlns:a16="http://schemas.microsoft.com/office/drawing/2014/main" id="{C4965623-762E-4125-B747-3A1142E5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43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MOBILITY</a:t>
            </a:r>
          </a:p>
        </p:txBody>
      </p:sp>
      <p:sp>
        <p:nvSpPr>
          <p:cNvPr id="20" name="combat-title-3">
            <a:extLst xmlns:a="http://schemas.openxmlformats.org/drawingml/2006/main">
              <a:ext uri="{FF2B5EF4-FFF2-40B4-BE49-F238E27FC236}">
                <a16:creationId xmlns:a16="http://schemas.microsoft.com/office/drawing/2014/main" id="{2BE4D5F5-8846-4B38-A0B7-391945C0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0D10"/>
                </a:solidFill>
              </a:defRPr>
            </a:pPr>
            <a:r>
              <a:rPr sz="1950" b="1">
                <a:solidFill>
                  <a:srgbClr val="0B0D10"/>
                </a:solidFill>
              </a:rPr>
              <a:t>위치와 무적의 분리</a:t>
            </a:r>
          </a:p>
        </p:txBody>
      </p:sp>
      <p:sp>
        <p:nvSpPr>
          <p:cNvPr id="21" name="combat-metric-3">
            <a:extLst xmlns:a="http://schemas.openxmlformats.org/drawingml/2006/main">
              <a:ext uri="{FF2B5EF4-FFF2-40B4-BE49-F238E27FC236}">
                <a16:creationId xmlns:a16="http://schemas.microsoft.com/office/drawing/2014/main" id="{8CBB7A87-9C3E-4BB5-9471-E8E9C817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863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DASH ≠ ROLL</a:t>
            </a:r>
          </a:p>
        </p:txBody>
      </p:sp>
      <p:sp>
        <p:nvSpPr>
          <p:cNvPr id="22" name="combat-body-3">
            <a:extLst xmlns:a="http://schemas.openxmlformats.org/drawingml/2006/main">
              <a:ext uri="{FF2B5EF4-FFF2-40B4-BE49-F238E27FC236}">
                <a16:creationId xmlns:a16="http://schemas.microsoft.com/office/drawing/2014/main" id="{BDC6F9B7-85F4-4350-976C-568C9BE6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816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대시는 빠르지만 무적 없음.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롤은 8틱 무적으로 위험 회피.</a:t>
            </a:r>
          </a:p>
        </p:txBody>
      </p:sp>
    </p:spTree>
    <p:extLst>
      <p:ext uri="{BB962C8B-B14F-4D97-AF65-F5344CB8AC3E}">
        <p14:creationId xmlns:p14="http://schemas.microsoft.com/office/powerpoint/2010/main" val="1414472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7E01F361-9231-4A11-82A7-6EB7BB6D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CORE GAME LOOP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DF8B227-02DF-478E-A352-E45CF927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캐릭터 선택부터 승패까지 하나의 반복 가능한 루프로 이어진다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CA0CF513-83BA-4CD4-9B1C-E7DF213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56AD6109-4013-4F44-9BFB-0721246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06</a:t>
            </a:r>
          </a:p>
        </p:txBody>
      </p:sp>
      <p:sp>
        <p:nvSpPr>
          <p:cNvPr id="5" name="journey-subtitle">
            <a:extLst xmlns:a="http://schemas.openxmlformats.org/drawingml/2006/main">
              <a:ext uri="{FF2B5EF4-FFF2-40B4-BE49-F238E27FC236}">
                <a16:creationId xmlns:a16="http://schemas.microsoft.com/office/drawing/2014/main" id="{40C082CC-2B4F-48D5-8C35-3FF41EFD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핵심 공방은 접근 → 공격·회피·패링 → 승패 → 재시작 또는 재선택으로 반복된다.</a:t>
            </a:r>
          </a:p>
        </p:txBody>
      </p:sp>
      <p:sp>
        <p:nvSpPr>
          <p:cNvPr id="6" name="journey-connector">
            <a:extLst xmlns:a="http://schemas.openxmlformats.org/drawingml/2006/main">
              <a:ext uri="{FF2B5EF4-FFF2-40B4-BE49-F238E27FC236}">
                <a16:creationId xmlns:a16="http://schemas.microsoft.com/office/drawing/2014/main" id="{43B9E5C7-E938-4184-B578-3533C64D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0425"/>
            <a:ext cx="969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C8EA6144-1432-469A-8801-D0840A91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A9148166-7C0D-4127-BEB3-9024AA3C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journey-title-0">
            <a:extLst xmlns:a="http://schemas.openxmlformats.org/drawingml/2006/main">
              <a:ext uri="{FF2B5EF4-FFF2-40B4-BE49-F238E27FC236}">
                <a16:creationId xmlns:a16="http://schemas.microsoft.com/office/drawing/2014/main" id="{04DDDA4E-5ED1-4C5E-9C31-886F793F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CHARACTER SELECT</a:t>
            </a:r>
          </a:p>
        </p:txBody>
      </p:sp>
      <p:sp>
        <p:nvSpPr>
          <p:cNvPr id="10" name="journey-body-0">
            <a:extLst xmlns:a="http://schemas.openxmlformats.org/drawingml/2006/main">
              <a:ext uri="{FF2B5EF4-FFF2-40B4-BE49-F238E27FC236}">
                <a16:creationId xmlns:a16="http://schemas.microsoft.com/office/drawing/2014/main" id="{0C330F27-961D-4EC9-84D0-B4FA1DED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VANGUARD / ARIA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캐릭터 선택</a:t>
            </a:r>
          </a:p>
        </p:txBody>
      </p:sp>
      <p:sp>
        <p:nvSpPr>
          <p:cNvPr id="11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5F25C523-E5E7-49CB-9747-3B38B45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7AF25DE1-109B-49C4-AF9B-53F5C7A3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1137D6F0-4A98-4397-8843-3452C189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APPROACH</a:t>
            </a:r>
          </a:p>
        </p:txBody>
      </p:sp>
      <p:sp>
        <p:nvSpPr>
          <p:cNvPr id="14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CBC4836A-60CB-4923-9C91-3D928E6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60초 라운드·재등장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상대 거리 접근</a:t>
            </a:r>
          </a:p>
        </p:txBody>
      </p:sp>
      <p:sp>
        <p:nvSpPr>
          <p:cNvPr id="15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1313A468-6E54-431C-8F15-FBA34D0F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27E21C65-E1FA-4108-9018-E4089DC8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00202189-7CB3-437E-8787-4B318AD6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COMBAT</a:t>
            </a:r>
          </a:p>
        </p:txBody>
      </p:sp>
      <p:sp>
        <p:nvSpPr>
          <p:cNvPr id="18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CCFE8FAD-0A95-4D96-9FE1-68550FDE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공격·구르기·패링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60Hz 판정 반복</a:t>
            </a:r>
          </a:p>
        </p:txBody>
      </p:sp>
      <p:sp>
        <p:nvSpPr>
          <p:cNvPr id="19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FC52F919-CF40-475E-A63E-CFE7A913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73F974CF-F5FD-4767-83E7-753522FD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719D23DC-E0C0-475D-98FE-0816176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RESULT</a:t>
            </a:r>
          </a:p>
        </p:txBody>
      </p:sp>
      <p:sp>
        <p:nvSpPr>
          <p:cNvPr id="22" name="journey-body-3">
            <a:extLst xmlns:a="http://schemas.openxmlformats.org/drawingml/2006/main">
              <a:ext uri="{FF2B5EF4-FFF2-40B4-BE49-F238E27FC236}">
                <a16:creationId xmlns:a16="http://schemas.microsoft.com/office/drawing/2014/main" id="{471B7D2F-48A4-40C8-A5E6-E0F770D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승리·패배·무승부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재시작·재선택</a:t>
            </a:r>
          </a:p>
        </p:txBody>
      </p:sp>
      <p:sp>
        <p:nvSpPr>
          <p:cNvPr id="23" name="journey-return">
            <a:extLst xmlns:a="http://schemas.openxmlformats.org/drawingml/2006/main">
              <a:ext uri="{FF2B5EF4-FFF2-40B4-BE49-F238E27FC236}">
                <a16:creationId xmlns:a16="http://schemas.microsoft.com/office/drawing/2014/main" id="{106CD7BC-B0E9-4217-A441-8FEBAB5D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3DB2"/>
                </a:solidFill>
              </a:defRPr>
            </a:pPr>
            <a:r>
              <a:rPr sz="1425" b="1">
                <a:solidFill>
                  <a:srgbClr val="D93DB2"/>
                </a:solidFill>
              </a:rPr>
              <a:t>R → 즉시 재시작   |   Esc → 캐릭터 선택으로 복귀</a:t>
            </a:r>
          </a:p>
        </p:txBody>
      </p:sp>
    </p:spTree>
    <p:extLst>
      <p:ext uri="{BB962C8B-B14F-4D97-AF65-F5344CB8AC3E}">
        <p14:creationId xmlns:p14="http://schemas.microsoft.com/office/powerpoint/2010/main" val="9457482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8">
            <a:extLst xmlns:a="http://schemas.openxmlformats.org/drawingml/2006/main">
              <a:ext uri="{FF2B5EF4-FFF2-40B4-BE49-F238E27FC236}">
                <a16:creationId xmlns:a16="http://schemas.microsoft.com/office/drawing/2014/main" id="{4E9184B8-C53C-43B5-A1A9-7523923D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INPUT &amp; BLADE FLOW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BEFF953-76A5-4533-A450-C81B272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이동·회피 입력과 Blade Action 분기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1105A4F9-13E0-4094-9471-6C9C975D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2F4ABF80-DDEB-4743-BF42-695A92F4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07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3756459444d60"/>
          <a:stretch xmlns:a="http://schemas.openxmlformats.org/drawingml/2006/main"/>
        </p:blipFill>
        <p:spPr>
          <a:xfrm xmlns:a="http://schemas.openxmlformats.org/drawingml/2006/main">
            <a:off x="400050" y="1935262"/>
            <a:ext cx="5524500" cy="3654227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c113f515f428f"/>
          <a:stretch xmlns:a="http://schemas.openxmlformats.org/drawingml/2006/main"/>
        </p:blipFill>
        <p:spPr>
          <a:xfrm xmlns:a="http://schemas.openxmlformats.org/drawingml/2006/main">
            <a:off x="7169111" y="1581150"/>
            <a:ext cx="3721179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17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8">
            <a:extLst xmlns:a="http://schemas.openxmlformats.org/drawingml/2006/main">
              <a:ext uri="{FF2B5EF4-FFF2-40B4-BE49-F238E27FC236}">
                <a16:creationId xmlns:a16="http://schemas.microsoft.com/office/drawing/2014/main" id="{4E9184B8-C53C-43B5-A1A9-7523923D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ATTACK &amp; RESULT FLOW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BEFF953-76A5-4533-A450-C81B272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강공격·페인트에서 승패 이후 복귀까지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1105A4F9-13E0-4094-9471-6C9C975D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2F4ABF80-DDEB-4743-BF42-695A92F4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165c960ae4873"/>
          <a:stretch xmlns:a="http://schemas.openxmlformats.org/drawingml/2006/main"/>
        </p:blipFill>
        <p:spPr>
          <a:xfrm xmlns:a="http://schemas.openxmlformats.org/drawingml/2006/main">
            <a:off x="1199994" y="1581150"/>
            <a:ext cx="3924613" cy="43624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731f51ed14bdd"/>
          <a:stretch xmlns:a="http://schemas.openxmlformats.org/drawingml/2006/main"/>
        </p:blipFill>
        <p:spPr>
          <a:xfrm xmlns:a="http://schemas.openxmlformats.org/drawingml/2006/main">
            <a:off x="7702661" y="1581150"/>
            <a:ext cx="2654078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17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6">
            <a:extLst xmlns:a="http://schemas.openxmlformats.org/drawingml/2006/main">
              <a:ext uri="{FF2B5EF4-FFF2-40B4-BE49-F238E27FC236}">
                <a16:creationId xmlns:a16="http://schemas.microsoft.com/office/drawing/2014/main" id="{0031D08B-68FB-4B53-AF6F-8608CF6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READABILITY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5B48851-4D51-4470-86EE-DC892516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가독성 피드백이 공격의 실제 접촉 순간을 보여준다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DB61572F-60A3-497E-BC7B-05A52FAA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BD5D9816-23FA-47F2-9417-DECABF4D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09</a:t>
            </a:r>
          </a:p>
        </p:txBody>
      </p:sp>
      <p:sp>
        <p:nvSpPr>
          <p:cNvPr id="5" name="readability-field">
            <a:extLst xmlns:a="http://schemas.openxmlformats.org/drawingml/2006/main">
              <a:ext uri="{FF2B5EF4-FFF2-40B4-BE49-F238E27FC236}">
                <a16:creationId xmlns:a16="http://schemas.microsoft.com/office/drawing/2014/main" id="{F4FCF443-6393-4E81-BF54-5B4E0D45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6197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adability-ring-outer">
            <a:extLst xmlns:a="http://schemas.openxmlformats.org/drawingml/2006/main">
              <a:ext uri="{FF2B5EF4-FFF2-40B4-BE49-F238E27FC236}">
                <a16:creationId xmlns:a16="http://schemas.microsoft.com/office/drawing/2014/main" id="{CA5FB633-1DEE-4B04-B202-C95B8548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3048000" cy="3048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84F"/>
            </a:solidFill>
            <a:prstDash val="solid"/>
          </a:ln>
        </p:spPr>
      </p:sp>
      <p:sp>
        <p:nvSpPr>
          <p:cNvPr id="7" name="readability-ring-inner">
            <a:extLst xmlns:a="http://schemas.openxmlformats.org/drawingml/2006/main">
              <a:ext uri="{FF2B5EF4-FFF2-40B4-BE49-F238E27FC236}">
                <a16:creationId xmlns:a16="http://schemas.microsoft.com/office/drawing/2014/main" id="{7A0933D3-6E20-4204-9FA0-68DF0D2F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14097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D52E3D"/>
            </a:solidFill>
            <a:prstDash val="solid"/>
          </a:ln>
        </p:spPr>
      </p:sp>
      <p:sp>
        <p:nvSpPr>
          <p:cNvPr id="8" name="readability-count">
            <a:extLst xmlns:a="http://schemas.openxmlformats.org/drawingml/2006/main">
              <a:ext uri="{FF2B5EF4-FFF2-40B4-BE49-F238E27FC236}">
                <a16:creationId xmlns:a16="http://schemas.microsoft.com/office/drawing/2014/main" id="{38C659A4-5A14-4FD5-8098-CE70BC62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19400"/>
            <a:ext cx="2247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B0D10"/>
                </a:solidFill>
              </a:defRPr>
            </a:pPr>
            <a:r>
              <a:rPr sz="2850" b="1">
                <a:solidFill>
                  <a:srgbClr val="0B0D10"/>
                </a:solidFill>
              </a:rPr>
              <a:t>6 → 1</a:t>
            </a:r>
          </a:p>
        </p:txBody>
      </p:sp>
      <p:sp>
        <p:nvSpPr>
          <p:cNvPr id="9" name="readability-lmb">
            <a:extLst xmlns:a="http://schemas.openxmlformats.org/drawingml/2006/main">
              <a:ext uri="{FF2B5EF4-FFF2-40B4-BE49-F238E27FC236}">
                <a16:creationId xmlns:a16="http://schemas.microsoft.com/office/drawing/2014/main" id="{1D9CB5F5-894C-4239-9B54-1BD36791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195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D52E3D"/>
                </a:solidFill>
              </a:defRPr>
            </a:pPr>
            <a:r>
              <a:rPr sz="2100" b="1">
                <a:solidFill>
                  <a:srgbClr val="D52E3D"/>
                </a:solidFill>
              </a:rPr>
              <a:t>LMB!</a:t>
            </a:r>
          </a:p>
        </p:txBody>
      </p:sp>
      <p:sp>
        <p:nvSpPr>
          <p:cNvPr id="10" name="readability-caption">
            <a:extLst xmlns:a="http://schemas.openxmlformats.org/drawingml/2006/main">
              <a:ext uri="{FF2B5EF4-FFF2-40B4-BE49-F238E27FC236}">
                <a16:creationId xmlns:a16="http://schemas.microsoft.com/office/drawing/2014/main" id="{E2292304-1AA0-414E-942E-881CE32B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D10"/>
                </a:solidFill>
              </a:defRPr>
            </a:pPr>
            <a:r>
              <a:rPr sz="1500" b="1">
                <a:solidFill>
                  <a:srgbClr val="0B0D10"/>
                </a:solidFill>
              </a:rPr>
              <a:t>접촉 예측 카운트다운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B0D10"/>
                </a:solidFill>
              </a:defRPr>
            </a:pPr>
            <a:r>
              <a:rPr sz="1500" b="1">
                <a:solidFill>
                  <a:srgbClr val="0B0D10"/>
                </a:solidFill>
              </a:rPr>
              <a:t>외곽 링 70 → 24px</a:t>
            </a:r>
          </a:p>
        </p:txBody>
      </p:sp>
      <p:sp>
        <p:nvSpPr>
          <p:cNvPr id="11" name="read-b1-dot">
            <a:extLst xmlns:a="http://schemas.openxmlformats.org/drawingml/2006/main">
              <a:ext uri="{FF2B5EF4-FFF2-40B4-BE49-F238E27FC236}">
                <a16:creationId xmlns:a16="http://schemas.microsoft.com/office/drawing/2014/main" id="{69DD402E-84B6-4BBF-AD5C-15422DCE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ad-b1-title">
            <a:extLst xmlns:a="http://schemas.openxmlformats.org/drawingml/2006/main">
              <a:ext uri="{FF2B5EF4-FFF2-40B4-BE49-F238E27FC236}">
                <a16:creationId xmlns:a16="http://schemas.microsoft.com/office/drawing/2014/main" id="{438DF166-7D22-4CDC-9719-E70C0973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노란 스윕 아크</a:t>
            </a:r>
          </a:p>
        </p:txBody>
      </p:sp>
      <p:sp>
        <p:nvSpPr>
          <p:cNvPr id="13" name="read-b1-body">
            <a:extLst xmlns:a="http://schemas.openxmlformats.org/drawingml/2006/main">
              <a:ext uri="{FF2B5EF4-FFF2-40B4-BE49-F238E27FC236}">
                <a16:creationId xmlns:a16="http://schemas.microsoft.com/office/drawing/2014/main" id="{F3E6EB39-398E-445B-83FD-6F8C3FF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공격 준비 단계에서 궤적과 범위를 먼저 노출한다.</a:t>
            </a:r>
          </a:p>
        </p:txBody>
      </p:sp>
      <p:sp>
        <p:nvSpPr>
          <p:cNvPr id="14" name="read-b2-dot">
            <a:extLst xmlns:a="http://schemas.openxmlformats.org/drawingml/2006/main">
              <a:ext uri="{FF2B5EF4-FFF2-40B4-BE49-F238E27FC236}">
                <a16:creationId xmlns:a16="http://schemas.microsoft.com/office/drawing/2014/main" id="{C95ECD1C-3874-4404-A22C-E7D76D28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ad-b2-title">
            <a:extLst xmlns:a="http://schemas.openxmlformats.org/drawingml/2006/main">
              <a:ext uri="{FF2B5EF4-FFF2-40B4-BE49-F238E27FC236}">
                <a16:creationId xmlns:a16="http://schemas.microsoft.com/office/drawing/2014/main" id="{2D08E40D-0F34-4E54-A4B0-07BDE1E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READY → LMB!</a:t>
            </a:r>
          </a:p>
        </p:txBody>
      </p:sp>
      <p:sp>
        <p:nvSpPr>
          <p:cNvPr id="16" name="read-b2-body">
            <a:extLst xmlns:a="http://schemas.openxmlformats.org/drawingml/2006/main">
              <a:ext uri="{FF2B5EF4-FFF2-40B4-BE49-F238E27FC236}">
                <a16:creationId xmlns:a16="http://schemas.microsoft.com/office/drawing/2014/main" id="{3757AB26-45EA-4341-8A8E-91FE4334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099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6틱부터 카운트다운하고 마지막 1틱에 입력을 요구한다.</a:t>
            </a:r>
          </a:p>
        </p:txBody>
      </p:sp>
      <p:sp>
        <p:nvSpPr>
          <p:cNvPr id="17" name="read-b3-dot">
            <a:extLst xmlns:a="http://schemas.openxmlformats.org/drawingml/2006/main">
              <a:ext uri="{FF2B5EF4-FFF2-40B4-BE49-F238E27FC236}">
                <a16:creationId xmlns:a16="http://schemas.microsoft.com/office/drawing/2014/main" id="{9C60A125-F7D4-4234-A6C5-293FEF63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57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ad-b3-title">
            <a:extLst xmlns:a="http://schemas.openxmlformats.org/drawingml/2006/main">
              <a:ext uri="{FF2B5EF4-FFF2-40B4-BE49-F238E27FC236}">
                <a16:creationId xmlns:a16="http://schemas.microsoft.com/office/drawing/2014/main" id="{5B8EE009-7B24-45FE-B82B-D2C7D688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HUD와 타격감</a:t>
            </a:r>
          </a:p>
        </p:txBody>
      </p:sp>
      <p:sp>
        <p:nvSpPr>
          <p:cNvPr id="19" name="read-b3-body">
            <a:extLst xmlns:a="http://schemas.openxmlformats.org/drawingml/2006/main">
              <a:ext uri="{FF2B5EF4-FFF2-40B4-BE49-F238E27FC236}">
                <a16:creationId xmlns:a16="http://schemas.microsoft.com/office/drawing/2014/main" id="{3B71FD00-20DD-4400-A97A-36BBA7D1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62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양측 체력·60초 타이머·히트스톱·플래시로 결과를 확인한다.</a:t>
            </a:r>
          </a:p>
        </p:txBody>
      </p:sp>
      <p:sp>
        <p:nvSpPr>
          <p:cNvPr id="20" name="read-b4-dot">
            <a:extLst xmlns:a="http://schemas.openxmlformats.org/drawingml/2006/main">
              <a:ext uri="{FF2B5EF4-FFF2-40B4-BE49-F238E27FC236}">
                <a16:creationId xmlns:a16="http://schemas.microsoft.com/office/drawing/2014/main" id="{120991E0-4EAC-4C0D-AEF2-555A5D80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ad-b4-title">
            <a:extLst xmlns:a="http://schemas.openxmlformats.org/drawingml/2006/main">
              <a:ext uri="{FF2B5EF4-FFF2-40B4-BE49-F238E27FC236}">
                <a16:creationId xmlns:a16="http://schemas.microsoft.com/office/drawing/2014/main" id="{1441DD72-93C4-4E5A-A2C5-B93827F5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33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이동 잔상과 F3</a:t>
            </a:r>
          </a:p>
        </p:txBody>
      </p:sp>
      <p:sp>
        <p:nvSpPr>
          <p:cNvPr id="22" name="read-b4-body">
            <a:extLst xmlns:a="http://schemas.openxmlformats.org/drawingml/2006/main">
              <a:ext uri="{FF2B5EF4-FFF2-40B4-BE49-F238E27FC236}">
                <a16:creationId xmlns:a16="http://schemas.microsoft.com/office/drawing/2014/main" id="{B82925FC-B4BA-4EBF-BF57-01DFCF6F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대시·롤의 궤적과 상태/히트박스를 디버그 오버레이로 검증한다.</a:t>
            </a:r>
          </a:p>
        </p:txBody>
      </p:sp>
    </p:spTree>
    <p:extLst>
      <p:ext uri="{BB962C8B-B14F-4D97-AF65-F5344CB8AC3E}">
        <p14:creationId xmlns:p14="http://schemas.microsoft.com/office/powerpoint/2010/main" val="20074128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7">
            <a:extLst xmlns:a="http://schemas.openxmlformats.org/drawingml/2006/main">
              <a:ext uri="{FF2B5EF4-FFF2-40B4-BE49-F238E27FC236}">
                <a16:creationId xmlns:a16="http://schemas.microsoft.com/office/drawing/2014/main" id="{712AB4FB-7750-434C-9B6D-24CB00A9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PLAYER STATE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AB4675E-F863-441F-B650-44058C05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프로토타입 상태는 브라우저 저장소 두 층으로 나뉜다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B43D982B-84A5-4337-8C20-F058CE2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6854A6CF-9F73-42C1-AAD2-8744F7A0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10</a:t>
            </a:r>
          </a:p>
        </p:txBody>
      </p:sp>
      <p:sp>
        <p:nvSpPr>
          <p:cNvPr id="5" name="state-subtitle">
            <a:extLst xmlns:a="http://schemas.openxmlformats.org/drawingml/2006/main">
              <a:ext uri="{FF2B5EF4-FFF2-40B4-BE49-F238E27FC236}">
                <a16:creationId xmlns:a16="http://schemas.microsoft.com/office/drawing/2014/main" id="{0355CEFE-5ABB-4F29-8A2E-6F9D3B61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인증 세션은 일시적으로, 개인 로드아웃은 지속적으로 보존한다.</a:t>
            </a:r>
          </a:p>
        </p:txBody>
      </p:sp>
      <p:sp>
        <p:nvSpPr>
          <p:cNvPr id="6" name="session-band">
            <a:extLst xmlns:a="http://schemas.openxmlformats.org/drawingml/2006/main">
              <a:ext uri="{FF2B5EF4-FFF2-40B4-BE49-F238E27FC236}">
                <a16:creationId xmlns:a16="http://schemas.microsoft.com/office/drawing/2014/main" id="{4978DA89-CE0A-435B-9BFE-2D0ADB2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ssion-title">
            <a:extLst xmlns:a="http://schemas.openxmlformats.org/drawingml/2006/main">
              <a:ext uri="{FF2B5EF4-FFF2-40B4-BE49-F238E27FC236}">
                <a16:creationId xmlns:a16="http://schemas.microsoft.com/office/drawing/2014/main" id="{8E40B8C2-793E-4FD1-A95F-BFBF6A33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sessionStorage</a:t>
            </a:r>
          </a:p>
        </p:txBody>
      </p:sp>
      <p:sp>
        <p:nvSpPr>
          <p:cNvPr id="8" name="session-flow">
            <a:extLst xmlns:a="http://schemas.openxmlformats.org/drawingml/2006/main">
              <a:ext uri="{FF2B5EF4-FFF2-40B4-BE49-F238E27FC236}">
                <a16:creationId xmlns:a16="http://schemas.microsoft.com/office/drawing/2014/main" id="{9781E19A-02C0-4035-AE7D-C3689888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0D10"/>
                </a:solidFill>
              </a:defRPr>
            </a:pPr>
            <a:r>
              <a:rPr sz="1725" b="1">
                <a:solidFill>
                  <a:srgbClr val="0B0D10"/>
                </a:solidFill>
              </a:rPr>
              <a:t>SIGN IN   →   메뉴 게이트   →   LOG OUT 시 삭제</a:t>
            </a:r>
          </a:p>
        </p:txBody>
      </p:sp>
      <p:sp>
        <p:nvSpPr>
          <p:cNvPr id="9" name="loadout-band">
            <a:extLst xmlns:a="http://schemas.openxmlformats.org/drawingml/2006/main">
              <a:ext uri="{FF2B5EF4-FFF2-40B4-BE49-F238E27FC236}">
                <a16:creationId xmlns:a16="http://schemas.microsoft.com/office/drawing/2014/main" id="{B8816CB2-A7F1-4739-9FDF-C831752D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723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loadout-title">
            <a:extLst xmlns:a="http://schemas.openxmlformats.org/drawingml/2006/main">
              <a:ext uri="{FF2B5EF4-FFF2-40B4-BE49-F238E27FC236}">
                <a16:creationId xmlns:a16="http://schemas.microsoft.com/office/drawing/2014/main" id="{16C16CB9-F385-4D55-AF17-5603735D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3DB2"/>
                </a:solidFill>
              </a:defRPr>
            </a:pPr>
            <a:r>
              <a:rPr sz="1800" b="1">
                <a:solidFill>
                  <a:srgbClr val="D93DB2"/>
                </a:solidFill>
              </a:rPr>
              <a:t>localStorage</a:t>
            </a:r>
          </a:p>
        </p:txBody>
      </p:sp>
      <p:sp>
        <p:nvSpPr>
          <p:cNvPr id="11" name="loadout-flow">
            <a:extLst xmlns:a="http://schemas.openxmlformats.org/drawingml/2006/main">
              <a:ext uri="{FF2B5EF4-FFF2-40B4-BE49-F238E27FC236}">
                <a16:creationId xmlns:a16="http://schemas.microsoft.com/office/drawing/2014/main" id="{C94C8AAA-D7CB-496D-A15E-B5D30620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0D10"/>
                </a:solidFill>
              </a:defRPr>
            </a:pPr>
            <a:r>
              <a:rPr sz="1725" b="1">
                <a:solidFill>
                  <a:srgbClr val="0B0D10"/>
                </a:solidFill>
              </a:rPr>
              <a:t>캐릭터 2종   +   특성 3종   +   아이템 3종</a:t>
            </a:r>
          </a:p>
        </p:txBody>
      </p:sp>
      <p:sp>
        <p:nvSpPr>
          <p:cNvPr id="12" name="loadout-key">
            <a:extLst xmlns:a="http://schemas.openxmlformats.org/drawingml/2006/main">
              <a:ext uri="{FF2B5EF4-FFF2-40B4-BE49-F238E27FC236}">
                <a16:creationId xmlns:a16="http://schemas.microsoft.com/office/drawing/2014/main" id="{1C49C70F-B4CE-4423-BFEE-21482209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773"/>
                </a:solidFill>
              </a:defRPr>
            </a:pPr>
            <a:r>
              <a:rPr sz="1200" b="0">
                <a:solidFill>
                  <a:srgbClr val="606773"/>
                </a:solidFill>
              </a:rPr>
              <a:t>neon-blade.loadout.v1</a:t>
            </a:r>
          </a:p>
        </p:txBody>
      </p:sp>
      <p:sp>
        <p:nvSpPr>
          <p:cNvPr id="13" name="state-limit-title">
            <a:extLst xmlns:a="http://schemas.openxmlformats.org/drawingml/2006/main">
              <a:ext uri="{FF2B5EF4-FFF2-40B4-BE49-F238E27FC236}">
                <a16:creationId xmlns:a16="http://schemas.microsoft.com/office/drawing/2014/main" id="{F19C1A39-E107-4C00-9C20-84650740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0D10"/>
                </a:solidFill>
              </a:defRPr>
            </a:pPr>
            <a:r>
              <a:rPr sz="2025" b="1">
                <a:solidFill>
                  <a:srgbClr val="0B0D10"/>
                </a:solidFill>
              </a:rPr>
              <a:t>현재 프로토타입의 경계</a:t>
            </a:r>
          </a:p>
        </p:txBody>
      </p:sp>
      <p:sp>
        <p:nvSpPr>
          <p:cNvPr id="14" name="state-limits">
            <a:extLst xmlns:a="http://schemas.openxmlformats.org/drawingml/2006/main">
              <a:ext uri="{FF2B5EF4-FFF2-40B4-BE49-F238E27FC236}">
                <a16:creationId xmlns:a16="http://schemas.microsoft.com/office/drawing/2014/main" id="{5F643BD3-B4B8-4B35-A671-89A1188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비밀번호는 저장하지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실제 인증은 서버/API 필요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특성·아이템 효과는 아직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  전투 밸런스에 적용하지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21022453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8">
            <a:extLst xmlns:a="http://schemas.openxmlformats.org/drawingml/2006/main">
              <a:ext uri="{FF2B5EF4-FFF2-40B4-BE49-F238E27FC236}">
                <a16:creationId xmlns:a16="http://schemas.microsoft.com/office/drawing/2014/main" id="{4E9184B8-C53C-43B5-A1A9-7523923D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TECHNICAL STRUCTURE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BEFF953-76A5-4533-A450-C81B272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모듈 분리로 전투 규칙과 화면 표현을 독립 검증한다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1105A4F9-13E0-4094-9471-6C9C975D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2F4ABF80-DDEB-4743-BF42-695A92F4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11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1790700"/>
          <a:ext xmlns:a="http://schemas.openxmlformats.org/drawingml/2006/main" cx="113919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905250"/>
                <a:gridCol w="5534025"/>
              </a:tblGrid>
              <a:tr h="4816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주요 모듈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책임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Scene / UI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main · healthHud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로그인·메뉴·창고·전투·HUD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Combat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combat · combatData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60Hz 상태 전이·판정·수치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Motion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combatMotion · combatTelegraph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포즈·검 스윕·접촉 예측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Input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groundInput · aimAssist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대시 조합·방향 입력·조준 보정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Player State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characterProfiles · playerLoadout · authSession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외형·선택·브라우저 저장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Tooling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Phaser 3 · TypeScript · Vite · Vitest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런타임·빌드·테스트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commands-label">
            <a:extLst xmlns:a="http://schemas.openxmlformats.org/drawingml/2006/main">
              <a:ext uri="{FF2B5EF4-FFF2-40B4-BE49-F238E27FC236}">
                <a16:creationId xmlns:a16="http://schemas.microsoft.com/office/drawing/2014/main" id="{8DACA4B7-E3FF-4324-AF8F-247EE480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실행·검증 명령</a:t>
            </a:r>
          </a:p>
        </p:txBody>
      </p:sp>
      <p:sp>
        <p:nvSpPr>
          <p:cNvPr id="7" name="commands">
            <a:extLst xmlns:a="http://schemas.openxmlformats.org/drawingml/2006/main">
              <a:ext uri="{FF2B5EF4-FFF2-40B4-BE49-F238E27FC236}">
                <a16:creationId xmlns:a16="http://schemas.microsoft.com/office/drawing/2014/main" id="{73A8085C-399B-4F5E-9F93-2D0DE1CA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02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0D10"/>
                </a:solidFill>
              </a:defRPr>
            </a:pPr>
            <a:r>
              <a:rPr sz="1650" b="1">
                <a:solidFill>
                  <a:srgbClr val="0B0D10"/>
                </a:solidFill>
              </a:rPr>
              <a:t>npm run dev     npm test     npm run lint     npm run build</a:t>
            </a:r>
          </a:p>
        </p:txBody>
      </p:sp>
    </p:spTree>
    <p:extLst>
      <p:ext uri="{BB962C8B-B14F-4D97-AF65-F5344CB8AC3E}">
        <p14:creationId xmlns:p14="http://schemas.microsoft.com/office/powerpoint/2010/main" val="18722172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7E01F361-9231-4A11-82A7-6EB7BB6D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DEVELOPMENT ROADMAP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DF8B227-02DF-478E-A352-E45CF927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콘텐츠보다 먼저, 한 판이 끝까지 이어지는 구조를 완성한다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CA0CF513-83BA-4CD4-9B1C-E7DF213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56AD6109-4013-4F44-9BFB-0721246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12</a:t>
            </a:r>
          </a:p>
        </p:txBody>
      </p:sp>
      <p:sp>
        <p:nvSpPr>
          <p:cNvPr id="5" name="journey-subtitle">
            <a:extLst xmlns:a="http://schemas.openxmlformats.org/drawingml/2006/main">
              <a:ext uri="{FF2B5EF4-FFF2-40B4-BE49-F238E27FC236}">
                <a16:creationId xmlns:a16="http://schemas.microsoft.com/office/drawing/2014/main" id="{40C082CC-2B4F-48D5-8C35-3FF41EFD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연습·매치·온라인·팀 확장을 순서대로 검증하면 재작업을 줄일 수 있다.</a:t>
            </a:r>
          </a:p>
        </p:txBody>
      </p:sp>
      <p:sp>
        <p:nvSpPr>
          <p:cNvPr id="6" name="journey-connector">
            <a:extLst xmlns:a="http://schemas.openxmlformats.org/drawingml/2006/main">
              <a:ext uri="{FF2B5EF4-FFF2-40B4-BE49-F238E27FC236}">
                <a16:creationId xmlns:a16="http://schemas.microsoft.com/office/drawing/2014/main" id="{43B9E5C7-E938-4184-B578-3533C64D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0425"/>
            <a:ext cx="969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C8EA6144-1432-469A-8801-D0840A91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A9148166-7C0D-4127-BEB3-9024AA3C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journey-title-0">
            <a:extLst xmlns:a="http://schemas.openxmlformats.org/drawingml/2006/main">
              <a:ext uri="{FF2B5EF4-FFF2-40B4-BE49-F238E27FC236}">
                <a16:creationId xmlns:a16="http://schemas.microsoft.com/office/drawing/2014/main" id="{04DDDA4E-5ED1-4C5E-9C31-886F793F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TRAINING</a:t>
            </a:r>
          </a:p>
        </p:txBody>
      </p:sp>
      <p:sp>
        <p:nvSpPr>
          <p:cNvPr id="10" name="journey-body-0">
            <a:extLst xmlns:a="http://schemas.openxmlformats.org/drawingml/2006/main">
              <a:ext uri="{FF2B5EF4-FFF2-40B4-BE49-F238E27FC236}">
                <a16:creationId xmlns:a16="http://schemas.microsoft.com/office/drawing/2014/main" id="{0C330F27-961D-4EC9-84D0-B4FA1DED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패링·구르기 타이밍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설정 가능한 더미</a:t>
            </a:r>
          </a:p>
        </p:txBody>
      </p:sp>
      <p:sp>
        <p:nvSpPr>
          <p:cNvPr id="11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5F25C523-E5E7-49CB-9747-3B38B45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7AF25DE1-109B-49C4-AF9B-53F5C7A3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1137D6F0-4A98-4397-8843-3452C189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ONLINE 1V1</a:t>
            </a:r>
          </a:p>
        </p:txBody>
      </p:sp>
      <p:sp>
        <p:nvSpPr>
          <p:cNvPr id="14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CBC4836A-60CB-4923-9C91-3D928E6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서버 판정·매칭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재접속·재대결</a:t>
            </a:r>
          </a:p>
        </p:txBody>
      </p:sp>
      <p:sp>
        <p:nvSpPr>
          <p:cNvPr id="15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1313A468-6E54-431C-8F15-FBA34D0F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27E21C65-E1FA-4108-9018-E4089DC8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00202189-7CB3-437E-8787-4B318AD6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MAP &amp; 2V2</a:t>
            </a:r>
          </a:p>
        </p:txBody>
      </p:sp>
      <p:sp>
        <p:nvSpPr>
          <p:cNvPr id="18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CCFE8FAD-0A95-4D96-9FE1-68550FDE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대칭 맵·팀 규칙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가독성·관전</a:t>
            </a:r>
          </a:p>
        </p:txBody>
      </p:sp>
      <p:sp>
        <p:nvSpPr>
          <p:cNvPr id="19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FC52F919-CF40-475E-A63E-CFE7A913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73F974CF-F5FD-4767-83E7-753522FD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719D23DC-E0C0-475D-98FE-0816176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3V3 &amp; POLISH</a:t>
            </a:r>
          </a:p>
        </p:txBody>
      </p:sp>
      <p:sp>
        <p:nvSpPr>
          <p:cNvPr id="22" name="journey-body-3">
            <a:extLst xmlns:a="http://schemas.openxmlformats.org/drawingml/2006/main">
              <a:ext uri="{FF2B5EF4-FFF2-40B4-BE49-F238E27FC236}">
                <a16:creationId xmlns:a16="http://schemas.microsoft.com/office/drawing/2014/main" id="{471B7D2F-48A4-40C8-A5E6-E0F770D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부하·밸런스 검증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캐릭터·이펙트</a:t>
            </a:r>
          </a:p>
        </p:txBody>
      </p:sp>
      <p:sp>
        <p:nvSpPr>
          <p:cNvPr id="23" name="journey-return">
            <a:extLst xmlns:a="http://schemas.openxmlformats.org/drawingml/2006/main">
              <a:ext uri="{FF2B5EF4-FFF2-40B4-BE49-F238E27FC236}">
                <a16:creationId xmlns:a16="http://schemas.microsoft.com/office/drawing/2014/main" id="{106CD7BC-B0E9-4217-A441-8FEBAB5D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3DB2"/>
                </a:solidFill>
              </a:defRPr>
            </a:pPr>
            <a:r>
              <a:rPr sz="1425" b="1">
                <a:solidFill>
                  <a:srgbClr val="D93DB2"/>
                </a:solidFill>
              </a:rPr>
              <a:t>각 단계의 플레이 테스트를 통과한 뒤 다음 규모로 확장</a:t>
            </a:r>
          </a:p>
        </p:txBody>
      </p:sp>
    </p:spTree>
    <p:extLst>
      <p:ext uri="{BB962C8B-B14F-4D97-AF65-F5344CB8AC3E}">
        <p14:creationId xmlns:p14="http://schemas.microsoft.com/office/powerpoint/2010/main" val="9457482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7E01F361-9231-4A11-82A7-6EB7BB6D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MATCH LOOP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DF8B227-02DF-478E-A352-E45CF927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로그인부터 재대결까지 끊김 없는 한 판이 기본 단위다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CA0CF513-83BA-4CD4-9B1C-E7DF213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56AD6109-4013-4F44-9BFB-0721246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13</a:t>
            </a:r>
          </a:p>
        </p:txBody>
      </p:sp>
      <p:sp>
        <p:nvSpPr>
          <p:cNvPr id="5" name="journey-subtitle">
            <a:extLst xmlns:a="http://schemas.openxmlformats.org/drawingml/2006/main">
              <a:ext uri="{FF2B5EF4-FFF2-40B4-BE49-F238E27FC236}">
                <a16:creationId xmlns:a16="http://schemas.microsoft.com/office/drawing/2014/main" id="{40C082CC-2B4F-48D5-8C35-3FF41EFD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개인 페이지와 매칭은 전투 전후를 연결하고, 결과가 다음 선택으로 되돌아온다.</a:t>
            </a:r>
          </a:p>
        </p:txBody>
      </p:sp>
      <p:sp>
        <p:nvSpPr>
          <p:cNvPr id="6" name="journey-connector">
            <a:extLst xmlns:a="http://schemas.openxmlformats.org/drawingml/2006/main">
              <a:ext uri="{FF2B5EF4-FFF2-40B4-BE49-F238E27FC236}">
                <a16:creationId xmlns:a16="http://schemas.microsoft.com/office/drawing/2014/main" id="{43B9E5C7-E938-4184-B578-3533C64D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0425"/>
            <a:ext cx="969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C8EA6144-1432-469A-8801-D0840A91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A9148166-7C0D-4127-BEB3-9024AA3C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journey-title-0">
            <a:extLst xmlns:a="http://schemas.openxmlformats.org/drawingml/2006/main">
              <a:ext uri="{FF2B5EF4-FFF2-40B4-BE49-F238E27FC236}">
                <a16:creationId xmlns:a16="http://schemas.microsoft.com/office/drawing/2014/main" id="{04DDDA4E-5ED1-4C5E-9C31-886F793F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SIGN IN</a:t>
            </a:r>
          </a:p>
        </p:txBody>
      </p:sp>
      <p:sp>
        <p:nvSpPr>
          <p:cNvPr id="10" name="journey-body-0">
            <a:extLst xmlns:a="http://schemas.openxmlformats.org/drawingml/2006/main">
              <a:ext uri="{FF2B5EF4-FFF2-40B4-BE49-F238E27FC236}">
                <a16:creationId xmlns:a16="http://schemas.microsoft.com/office/drawing/2014/main" id="{0C330F27-961D-4EC9-84D0-B4FA1DED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계정 인증·세션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재접속 준비</a:t>
            </a:r>
          </a:p>
        </p:txBody>
      </p:sp>
      <p:sp>
        <p:nvSpPr>
          <p:cNvPr id="11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5F25C523-E5E7-49CB-9747-3B38B45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7AF25DE1-109B-49C4-AF9B-53F5C7A3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1137D6F0-4A98-4397-8843-3452C189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PREPARE</a:t>
            </a:r>
          </a:p>
        </p:txBody>
      </p:sp>
      <p:sp>
        <p:nvSpPr>
          <p:cNvPr id="14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CBC4836A-60CB-4923-9C91-3D928E6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창고·캐릭터·특성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매칭 모드 선택</a:t>
            </a:r>
          </a:p>
        </p:txBody>
      </p:sp>
      <p:sp>
        <p:nvSpPr>
          <p:cNvPr id="15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1313A468-6E54-431C-8F15-FBA34D0F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27E21C65-E1FA-4108-9018-E4089DC8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00202189-7CB3-437E-8787-4B318AD6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MATCH</a:t>
            </a:r>
          </a:p>
        </p:txBody>
      </p:sp>
      <p:sp>
        <p:nvSpPr>
          <p:cNvPr id="18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CCFE8FAD-0A95-4D96-9FE1-68550FDE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카운트다운·전투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승패·관전 처리</a:t>
            </a:r>
          </a:p>
        </p:txBody>
      </p:sp>
      <p:sp>
        <p:nvSpPr>
          <p:cNvPr id="19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FC52F919-CF40-475E-A63E-CFE7A913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73F974CF-F5FD-4767-83E7-753522FD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719D23DC-E0C0-475D-98FE-0816176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RESULT</a:t>
            </a:r>
          </a:p>
        </p:txBody>
      </p:sp>
      <p:sp>
        <p:nvSpPr>
          <p:cNvPr id="22" name="journey-body-3">
            <a:extLst xmlns:a="http://schemas.openxmlformats.org/drawingml/2006/main">
              <a:ext uri="{FF2B5EF4-FFF2-40B4-BE49-F238E27FC236}">
                <a16:creationId xmlns:a16="http://schemas.microsoft.com/office/drawing/2014/main" id="{471B7D2F-48A4-40C8-A5E6-E0F770D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보상·전적·재대결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로비 또는 종료</a:t>
            </a:r>
          </a:p>
        </p:txBody>
      </p:sp>
      <p:sp>
        <p:nvSpPr>
          <p:cNvPr id="23" name="journey-return">
            <a:extLst xmlns:a="http://schemas.openxmlformats.org/drawingml/2006/main">
              <a:ext uri="{FF2B5EF4-FFF2-40B4-BE49-F238E27FC236}">
                <a16:creationId xmlns:a16="http://schemas.microsoft.com/office/drawing/2014/main" id="{106CD7BC-B0E9-4217-A441-8FEBAB5D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3DB2"/>
                </a:solidFill>
              </a:defRPr>
            </a:pPr>
            <a:r>
              <a:rPr sz="1425" b="1">
                <a:solidFill>
                  <a:srgbClr val="D93DB2"/>
                </a:solidFill>
              </a:rPr>
              <a:t>재대결 → 같은 조합 즉시 시작   |   로비 → 모드·로드아웃 변경</a:t>
            </a:r>
          </a:p>
        </p:txBody>
      </p:sp>
    </p:spTree>
    <p:extLst>
      <p:ext uri="{BB962C8B-B14F-4D97-AF65-F5344CB8AC3E}">
        <p14:creationId xmlns:p14="http://schemas.microsoft.com/office/powerpoint/2010/main" val="9457482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5">
            <a:extLst xmlns:a="http://schemas.openxmlformats.org/drawingml/2006/main">
              <a:ext uri="{FF2B5EF4-FFF2-40B4-BE49-F238E27FC236}">
                <a16:creationId xmlns:a16="http://schemas.microsoft.com/office/drawing/2014/main" id="{3BEF3ECF-19DD-4A7F-884D-AE73E5CF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GAMEPLAY PRIORITIES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6C28636-BD2C-4365-8366-9085B8D0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멀티플레이 전에 네 가지 플레이 경험을 완결해야 한다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DCF53E14-D42D-4135-A43F-8CE5DB6E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3339435B-2E68-41B6-98E4-0A6FA5B3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14</a:t>
            </a:r>
          </a:p>
        </p:txBody>
      </p:sp>
      <p:sp>
        <p:nvSpPr>
          <p:cNvPr id="5" name="combat-v-rule">
            <a:extLst xmlns:a="http://schemas.openxmlformats.org/drawingml/2006/main">
              <a:ext uri="{FF2B5EF4-FFF2-40B4-BE49-F238E27FC236}">
                <a16:creationId xmlns:a16="http://schemas.microsoft.com/office/drawing/2014/main" id="{F523F65C-EA6E-43B3-A575-2B84AACE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bat-h-rule">
            <a:extLst xmlns:a="http://schemas.openxmlformats.org/drawingml/2006/main">
              <a:ext uri="{FF2B5EF4-FFF2-40B4-BE49-F238E27FC236}">
                <a16:creationId xmlns:a16="http://schemas.microsoft.com/office/drawing/2014/main" id="{3A459A25-A56B-4248-B0C4-519C070B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bat-tag-0">
            <a:extLst xmlns:a="http://schemas.openxmlformats.org/drawingml/2006/main">
              <a:ext uri="{FF2B5EF4-FFF2-40B4-BE49-F238E27FC236}">
                <a16:creationId xmlns:a16="http://schemas.microsoft.com/office/drawing/2014/main" id="{E702B166-E28B-444E-BDE2-864E41A5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C6F4"/>
                </a:solidFill>
              </a:defRPr>
            </a:pPr>
            <a:r>
              <a:rPr sz="1275" b="1">
                <a:solidFill>
                  <a:srgbClr val="39C6F4"/>
                </a:solidFill>
              </a:rPr>
              <a:t>TRAINING</a:t>
            </a:r>
          </a:p>
        </p:txBody>
      </p:sp>
      <p:sp>
        <p:nvSpPr>
          <p:cNvPr id="8" name="combat-title-0">
            <a:extLst xmlns:a="http://schemas.openxmlformats.org/drawingml/2006/main">
              <a:ext uri="{FF2B5EF4-FFF2-40B4-BE49-F238E27FC236}">
                <a16:creationId xmlns:a16="http://schemas.microsoft.com/office/drawing/2014/main" id="{EB502B91-0F10-41DE-8027-0993C226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0D10"/>
                </a:solidFill>
              </a:defRPr>
            </a:pPr>
            <a:r>
              <a:rPr sz="1950" b="1">
                <a:solidFill>
                  <a:srgbClr val="0B0D10"/>
                </a:solidFill>
              </a:rPr>
              <a:t>타이밍을 학습</a:t>
            </a:r>
          </a:p>
        </p:txBody>
      </p:sp>
      <p:sp>
        <p:nvSpPr>
          <p:cNvPr id="9" name="combat-metric-0">
            <a:extLst xmlns:a="http://schemas.openxmlformats.org/drawingml/2006/main">
              <a:ext uri="{FF2B5EF4-FFF2-40B4-BE49-F238E27FC236}">
                <a16:creationId xmlns:a16="http://schemas.microsoft.com/office/drawing/2014/main" id="{E1A46707-4495-4C5F-9EA2-6789F193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9C6F4"/>
                </a:solidFill>
              </a:defRPr>
            </a:pPr>
            <a:r>
              <a:rPr sz="2250" b="1">
                <a:solidFill>
                  <a:srgbClr val="39C6F4"/>
                </a:solidFill>
              </a:rPr>
              <a:t>PARRY LAB</a:t>
            </a:r>
          </a:p>
        </p:txBody>
      </p:sp>
      <p:sp>
        <p:nvSpPr>
          <p:cNvPr id="10" name="combat-body-0">
            <a:extLst xmlns:a="http://schemas.openxmlformats.org/drawingml/2006/main">
              <a:ext uri="{FF2B5EF4-FFF2-40B4-BE49-F238E27FC236}">
                <a16:creationId xmlns:a16="http://schemas.microsoft.com/office/drawing/2014/main" id="{359E2D58-60B5-4BB9-8A54-5DFF4F05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공격·페인트·속도 설정 더미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접촉·무적 구간 즉시 피드백</a:t>
            </a:r>
          </a:p>
        </p:txBody>
      </p:sp>
      <p:sp>
        <p:nvSpPr>
          <p:cNvPr id="11" name="combat-tag-1">
            <a:extLst xmlns:a="http://schemas.openxmlformats.org/drawingml/2006/main">
              <a:ext uri="{FF2B5EF4-FFF2-40B4-BE49-F238E27FC236}">
                <a16:creationId xmlns:a16="http://schemas.microsoft.com/office/drawing/2014/main" id="{103C1B98-4249-4CAF-9DF1-991EE255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3DB2"/>
                </a:solidFill>
              </a:defRPr>
            </a:pPr>
            <a:r>
              <a:rPr sz="1275" b="1">
                <a:solidFill>
                  <a:srgbClr val="D93DB2"/>
                </a:solidFill>
              </a:rPr>
              <a:t>MATCH RULE</a:t>
            </a:r>
          </a:p>
        </p:txBody>
      </p:sp>
      <p:sp>
        <p:nvSpPr>
          <p:cNvPr id="12" name="combat-title-1">
            <a:extLst xmlns:a="http://schemas.openxmlformats.org/drawingml/2006/main">
              <a:ext uri="{FF2B5EF4-FFF2-40B4-BE49-F238E27FC236}">
                <a16:creationId xmlns:a16="http://schemas.microsoft.com/office/drawing/2014/main" id="{1A8C769C-1FB3-4C05-99FC-9EB5EC69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288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0D10"/>
                </a:solidFill>
              </a:defRPr>
            </a:pPr>
            <a:r>
              <a:rPr sz="1950" b="1">
                <a:solidFill>
                  <a:srgbClr val="0B0D10"/>
                </a:solidFill>
              </a:rPr>
              <a:t>한 판을 완결</a:t>
            </a:r>
          </a:p>
        </p:txBody>
      </p:sp>
      <p:sp>
        <p:nvSpPr>
          <p:cNvPr id="13" name="combat-metric-1">
            <a:extLst xmlns:a="http://schemas.openxmlformats.org/drawingml/2006/main">
              <a:ext uri="{FF2B5EF4-FFF2-40B4-BE49-F238E27FC236}">
                <a16:creationId xmlns:a16="http://schemas.microsoft.com/office/drawing/2014/main" id="{1795578D-2B80-428B-B6DE-F4F5710F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3DB2"/>
                </a:solidFill>
              </a:defRPr>
            </a:pPr>
            <a:r>
              <a:rPr sz="2250" b="1">
                <a:solidFill>
                  <a:srgbClr val="D93DB2"/>
                </a:solidFill>
              </a:rPr>
              <a:t>ROUND LOOP</a:t>
            </a:r>
          </a:p>
        </p:txBody>
      </p:sp>
      <p:sp>
        <p:nvSpPr>
          <p:cNvPr id="14" name="combat-body-1">
            <a:extLst xmlns:a="http://schemas.openxmlformats.org/drawingml/2006/main">
              <a:ext uri="{FF2B5EF4-FFF2-40B4-BE49-F238E27FC236}">
                <a16:creationId xmlns:a16="http://schemas.microsoft.com/office/drawing/2014/main" id="{7FB65A2A-39FA-4C6D-9869-3F76B70D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카운트다운·승패·재대결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탈주·동점·시간초과 규칙</a:t>
            </a:r>
          </a:p>
        </p:txBody>
      </p:sp>
      <p:sp>
        <p:nvSpPr>
          <p:cNvPr id="15" name="combat-tag-2">
            <a:extLst xmlns:a="http://schemas.openxmlformats.org/drawingml/2006/main">
              <a:ext uri="{FF2B5EF4-FFF2-40B4-BE49-F238E27FC236}">
                <a16:creationId xmlns:a16="http://schemas.microsoft.com/office/drawing/2014/main" id="{2DB84A07-AFC0-475E-B8EC-479D4F03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D84F"/>
                </a:solidFill>
              </a:defRPr>
            </a:pPr>
            <a:r>
              <a:rPr sz="1275" b="1">
                <a:solidFill>
                  <a:srgbClr val="FFD84F"/>
                </a:solidFill>
              </a:rPr>
              <a:t>TARGETING</a:t>
            </a:r>
          </a:p>
        </p:txBody>
      </p:sp>
      <p:sp>
        <p:nvSpPr>
          <p:cNvPr id="16" name="combat-title-2">
            <a:extLst xmlns:a="http://schemas.openxmlformats.org/drawingml/2006/main">
              <a:ext uri="{FF2B5EF4-FFF2-40B4-BE49-F238E27FC236}">
                <a16:creationId xmlns:a16="http://schemas.microsoft.com/office/drawing/2014/main" id="{DD9FF71B-8549-4D2D-B1E9-5E24EA85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0D10"/>
                </a:solidFill>
              </a:defRPr>
            </a:pPr>
            <a:r>
              <a:rPr sz="1950" b="1">
                <a:solidFill>
                  <a:srgbClr val="0B0D10"/>
                </a:solidFill>
              </a:rPr>
              <a:t>다대다를 읽기</a:t>
            </a:r>
          </a:p>
        </p:txBody>
      </p:sp>
      <p:sp>
        <p:nvSpPr>
          <p:cNvPr id="17" name="combat-metric-2">
            <a:extLst xmlns:a="http://schemas.openxmlformats.org/drawingml/2006/main">
              <a:ext uri="{FF2B5EF4-FFF2-40B4-BE49-F238E27FC236}">
                <a16:creationId xmlns:a16="http://schemas.microsoft.com/office/drawing/2014/main" id="{3DD4EBEE-B094-4F21-B5C6-63BBF345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863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D84F"/>
                </a:solidFill>
              </a:defRPr>
            </a:pPr>
            <a:r>
              <a:rPr sz="2250" b="1">
                <a:solidFill>
                  <a:srgbClr val="FFD84F"/>
                </a:solidFill>
              </a:rPr>
              <a:t>SOFT AIM</a:t>
            </a:r>
          </a:p>
        </p:txBody>
      </p:sp>
      <p:sp>
        <p:nvSpPr>
          <p:cNvPr id="18" name="combat-body-2">
            <a:extLst xmlns:a="http://schemas.openxmlformats.org/drawingml/2006/main">
              <a:ext uri="{FF2B5EF4-FFF2-40B4-BE49-F238E27FC236}">
                <a16:creationId xmlns:a16="http://schemas.microsoft.com/office/drawing/2014/main" id="{46753DCE-DD4E-4686-8A20-B793E958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강제 락온 없이 약한 보정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아군·적군·화면 밖 위험 표시</a:t>
            </a:r>
          </a:p>
        </p:txBody>
      </p:sp>
      <p:sp>
        <p:nvSpPr>
          <p:cNvPr id="19" name="combat-tag-3">
            <a:extLst xmlns:a="http://schemas.openxmlformats.org/drawingml/2006/main">
              <a:ext uri="{FF2B5EF4-FFF2-40B4-BE49-F238E27FC236}">
                <a16:creationId xmlns:a16="http://schemas.microsoft.com/office/drawing/2014/main" id="{C4965623-762E-4125-B747-3A1142E5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43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AUDIO</a:t>
            </a:r>
          </a:p>
        </p:txBody>
      </p:sp>
      <p:sp>
        <p:nvSpPr>
          <p:cNvPr id="20" name="combat-title-3">
            <a:extLst xmlns:a="http://schemas.openxmlformats.org/drawingml/2006/main">
              <a:ext uri="{FF2B5EF4-FFF2-40B4-BE49-F238E27FC236}">
                <a16:creationId xmlns:a16="http://schemas.microsoft.com/office/drawing/2014/main" id="{2BE4D5F5-8846-4B38-A0B7-391945C0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0D10"/>
                </a:solidFill>
              </a:defRPr>
            </a:pPr>
            <a:r>
              <a:rPr sz="1950" b="1">
                <a:solidFill>
                  <a:srgbClr val="0B0D10"/>
                </a:solidFill>
              </a:rPr>
              <a:t>소리로 예측</a:t>
            </a:r>
          </a:p>
        </p:txBody>
      </p:sp>
      <p:sp>
        <p:nvSpPr>
          <p:cNvPr id="21" name="combat-metric-3">
            <a:extLst xmlns:a="http://schemas.openxmlformats.org/drawingml/2006/main">
              <a:ext uri="{FF2B5EF4-FFF2-40B4-BE49-F238E27FC236}">
                <a16:creationId xmlns:a16="http://schemas.microsoft.com/office/drawing/2014/main" id="{8CBB7A87-9C3E-4BB5-9471-E8E9C817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863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CUE FIRST</a:t>
            </a:r>
          </a:p>
        </p:txBody>
      </p:sp>
      <p:sp>
        <p:nvSpPr>
          <p:cNvPr id="22" name="combat-body-3">
            <a:extLst xmlns:a="http://schemas.openxmlformats.org/drawingml/2006/main">
              <a:ext uri="{FF2B5EF4-FFF2-40B4-BE49-F238E27FC236}">
                <a16:creationId xmlns:a16="http://schemas.microsoft.com/office/drawing/2014/main" id="{BDC6F9B7-85F4-4350-976C-568C9BE6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816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강공격·패링·회피 소리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음악 박자 판정은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14144724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7">
            <a:extLst xmlns:a="http://schemas.openxmlformats.org/drawingml/2006/main">
              <a:ext uri="{FF2B5EF4-FFF2-40B4-BE49-F238E27FC236}">
                <a16:creationId xmlns:a16="http://schemas.microsoft.com/office/drawing/2014/main" id="{712AB4FB-7750-434C-9B6D-24CB00A9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ACCOUNT &amp; PERSONAL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AB4675E-F863-441F-B650-44058C05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로그인 서버와 개인 페이지가 장비 선택을 안전하게 이어준다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B43D982B-84A5-4337-8C20-F058CE2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6854A6CF-9F73-42C1-AAD2-8744F7A0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15</a:t>
            </a:r>
          </a:p>
        </p:txBody>
      </p:sp>
      <p:sp>
        <p:nvSpPr>
          <p:cNvPr id="5" name="state-subtitle">
            <a:extLst xmlns:a="http://schemas.openxmlformats.org/drawingml/2006/main">
              <a:ext uri="{FF2B5EF4-FFF2-40B4-BE49-F238E27FC236}">
                <a16:creationId xmlns:a16="http://schemas.microsoft.com/office/drawing/2014/main" id="{0355CEFE-5ABB-4F29-8A2E-6F9D3B61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브라우저 임시 저장은 프로토타입에만 남기고, 계정 데이터는 서버가 권한을 가진다.</a:t>
            </a:r>
          </a:p>
        </p:txBody>
      </p:sp>
      <p:sp>
        <p:nvSpPr>
          <p:cNvPr id="6" name="session-band">
            <a:extLst xmlns:a="http://schemas.openxmlformats.org/drawingml/2006/main">
              <a:ext uri="{FF2B5EF4-FFF2-40B4-BE49-F238E27FC236}">
                <a16:creationId xmlns:a16="http://schemas.microsoft.com/office/drawing/2014/main" id="{4978DA89-CE0A-435B-9BFE-2D0ADB2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ssion-title">
            <a:extLst xmlns:a="http://schemas.openxmlformats.org/drawingml/2006/main">
              <a:ext uri="{FF2B5EF4-FFF2-40B4-BE49-F238E27FC236}">
                <a16:creationId xmlns:a16="http://schemas.microsoft.com/office/drawing/2014/main" id="{8E40B8C2-793E-4FD1-A95F-BFBF6A33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SESSION / AUTH</a:t>
            </a:r>
          </a:p>
        </p:txBody>
      </p:sp>
      <p:sp>
        <p:nvSpPr>
          <p:cNvPr id="8" name="session-flow">
            <a:extLst xmlns:a="http://schemas.openxmlformats.org/drawingml/2006/main">
              <a:ext uri="{FF2B5EF4-FFF2-40B4-BE49-F238E27FC236}">
                <a16:creationId xmlns:a16="http://schemas.microsoft.com/office/drawing/2014/main" id="{9781E19A-02C0-4035-AE7D-C3689888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0D10"/>
                </a:solidFill>
              </a:defRPr>
            </a:pPr>
            <a:r>
              <a:rPr sz="1725" b="1">
                <a:solidFill>
                  <a:srgbClr val="0B0D10"/>
                </a:solidFill>
              </a:rPr>
              <a:t>SIGN IN  →  TOKEN  →  LOBBY  →  RECONNECT / LOG OUT</a:t>
            </a:r>
          </a:p>
        </p:txBody>
      </p:sp>
      <p:sp>
        <p:nvSpPr>
          <p:cNvPr id="9" name="loadout-band">
            <a:extLst xmlns:a="http://schemas.openxmlformats.org/drawingml/2006/main">
              <a:ext uri="{FF2B5EF4-FFF2-40B4-BE49-F238E27FC236}">
                <a16:creationId xmlns:a16="http://schemas.microsoft.com/office/drawing/2014/main" id="{B8816CB2-A7F1-4739-9FDF-C831752D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723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loadout-title">
            <a:extLst xmlns:a="http://schemas.openxmlformats.org/drawingml/2006/main">
              <a:ext uri="{FF2B5EF4-FFF2-40B4-BE49-F238E27FC236}">
                <a16:creationId xmlns:a16="http://schemas.microsoft.com/office/drawing/2014/main" id="{16C16CB9-F385-4D55-AF17-5603735D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3DB2"/>
                </a:solidFill>
              </a:defRPr>
            </a:pPr>
            <a:r>
              <a:rPr sz="1800" b="1">
                <a:solidFill>
                  <a:srgbClr val="D93DB2"/>
                </a:solidFill>
              </a:rPr>
              <a:t>PLAYER DATA</a:t>
            </a:r>
          </a:p>
        </p:txBody>
      </p:sp>
      <p:sp>
        <p:nvSpPr>
          <p:cNvPr id="11" name="loadout-flow">
            <a:extLst xmlns:a="http://schemas.openxmlformats.org/drawingml/2006/main">
              <a:ext uri="{FF2B5EF4-FFF2-40B4-BE49-F238E27FC236}">
                <a16:creationId xmlns:a16="http://schemas.microsoft.com/office/drawing/2014/main" id="{C94C8AAA-D7CB-496D-A15E-B5D30620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0D10"/>
                </a:solidFill>
              </a:defRPr>
            </a:pPr>
            <a:r>
              <a:rPr sz="1725" b="1">
                <a:solidFill>
                  <a:srgbClr val="0B0D10"/>
                </a:solidFill>
              </a:rPr>
              <a:t>CHARACTER  +  INVENTORY  +  TRAIT PRESET  +  COSMETIC</a:t>
            </a:r>
          </a:p>
        </p:txBody>
      </p:sp>
      <p:sp>
        <p:nvSpPr>
          <p:cNvPr id="12" name="loadout-key">
            <a:extLst xmlns:a="http://schemas.openxmlformats.org/drawingml/2006/main">
              <a:ext uri="{FF2B5EF4-FFF2-40B4-BE49-F238E27FC236}">
                <a16:creationId xmlns:a16="http://schemas.microsoft.com/office/drawing/2014/main" id="{1C49C70F-B4CE-4423-BFEE-21482209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773"/>
                </a:solidFill>
              </a:defRPr>
            </a:pPr>
            <a:r>
              <a:rPr sz="1200" b="0">
                <a:solidFill>
                  <a:srgbClr val="606773"/>
                </a:solidFill>
              </a:rPr>
              <a:t>account · inventory · loadout · match history</a:t>
            </a:r>
          </a:p>
        </p:txBody>
      </p:sp>
      <p:sp>
        <p:nvSpPr>
          <p:cNvPr id="13" name="state-limit-title">
            <a:extLst xmlns:a="http://schemas.openxmlformats.org/drawingml/2006/main">
              <a:ext uri="{FF2B5EF4-FFF2-40B4-BE49-F238E27FC236}">
                <a16:creationId xmlns:a16="http://schemas.microsoft.com/office/drawing/2014/main" id="{F19C1A39-E107-4C00-9C20-84650740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0D10"/>
                </a:solidFill>
              </a:defRPr>
            </a:pPr>
            <a:r>
              <a:rPr sz="2025" b="1">
                <a:solidFill>
                  <a:srgbClr val="0B0D10"/>
                </a:solidFill>
              </a:rPr>
              <a:t>서버 권한의 경계</a:t>
            </a:r>
          </a:p>
        </p:txBody>
      </p:sp>
      <p:sp>
        <p:nvSpPr>
          <p:cNvPr id="14" name="state-limits">
            <a:extLst xmlns:a="http://schemas.openxmlformats.org/drawingml/2006/main">
              <a:ext uri="{FF2B5EF4-FFF2-40B4-BE49-F238E27FC236}">
                <a16:creationId xmlns:a16="http://schemas.microsoft.com/office/drawing/2014/main" id="{5F643BD3-B4B8-4B35-A671-89A1188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비밀번호 해시·세션 만료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아이템 소유·장착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전투 결과·보상 기록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클라이언트 저장값은 표시용</a:t>
            </a:r>
          </a:p>
        </p:txBody>
      </p:sp>
    </p:spTree>
    <p:extLst>
      <p:ext uri="{BB962C8B-B14F-4D97-AF65-F5344CB8AC3E}">
        <p14:creationId xmlns:p14="http://schemas.microsoft.com/office/powerpoint/2010/main" val="21022453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7E01F361-9231-4A11-82A7-6EB7BB6D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MODE EXPANSION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DF8B227-02DF-478E-A352-E45CF927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1대1의 네트워크 품질을 증명한 뒤 팀 규모를 키운다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CA0CF513-83BA-4CD4-9B1C-E7DF213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56AD6109-4013-4F44-9BFB-0721246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16</a:t>
            </a:r>
          </a:p>
        </p:txBody>
      </p:sp>
      <p:sp>
        <p:nvSpPr>
          <p:cNvPr id="5" name="journey-subtitle">
            <a:extLst xmlns:a="http://schemas.openxmlformats.org/drawingml/2006/main">
              <a:ext uri="{FF2B5EF4-FFF2-40B4-BE49-F238E27FC236}">
                <a16:creationId xmlns:a16="http://schemas.microsoft.com/office/drawing/2014/main" id="{40C082CC-2B4F-48D5-8C35-3FF41EFD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인원 증가보다 판정 권한·시야·협공 규칙을 먼저 고정한다.</a:t>
            </a:r>
          </a:p>
        </p:txBody>
      </p:sp>
      <p:sp>
        <p:nvSpPr>
          <p:cNvPr id="6" name="journey-connector">
            <a:extLst xmlns:a="http://schemas.openxmlformats.org/drawingml/2006/main">
              <a:ext uri="{FF2B5EF4-FFF2-40B4-BE49-F238E27FC236}">
                <a16:creationId xmlns:a16="http://schemas.microsoft.com/office/drawing/2014/main" id="{43B9E5C7-E938-4184-B578-3533C64D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0425"/>
            <a:ext cx="969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C8EA6144-1432-469A-8801-D0840A91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A9148166-7C0D-4127-BEB3-9024AA3C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journey-title-0">
            <a:extLst xmlns:a="http://schemas.openxmlformats.org/drawingml/2006/main">
              <a:ext uri="{FF2B5EF4-FFF2-40B4-BE49-F238E27FC236}">
                <a16:creationId xmlns:a16="http://schemas.microsoft.com/office/drawing/2014/main" id="{04DDDA4E-5ED1-4C5E-9C31-886F793F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ONLINE 1V1</a:t>
            </a:r>
          </a:p>
        </p:txBody>
      </p:sp>
      <p:sp>
        <p:nvSpPr>
          <p:cNvPr id="10" name="journey-body-0">
            <a:extLst xmlns:a="http://schemas.openxmlformats.org/drawingml/2006/main">
              <a:ext uri="{FF2B5EF4-FFF2-40B4-BE49-F238E27FC236}">
                <a16:creationId xmlns:a16="http://schemas.microsoft.com/office/drawing/2014/main" id="{0C330F27-961D-4EC9-84D0-B4FA1DED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60Hz 서버 판정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예측·보정·재접속</a:t>
            </a:r>
          </a:p>
        </p:txBody>
      </p:sp>
      <p:sp>
        <p:nvSpPr>
          <p:cNvPr id="11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5F25C523-E5E7-49CB-9747-3B38B45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7AF25DE1-109B-49C4-AF9B-53F5C7A3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1137D6F0-4A98-4397-8843-3452C189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MAP SYSTEM</a:t>
            </a:r>
          </a:p>
        </p:txBody>
      </p:sp>
      <p:sp>
        <p:nvSpPr>
          <p:cNvPr id="14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CBC4836A-60CB-4923-9C91-3D928E6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대칭 스폰·경계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벽·카메라·크기</a:t>
            </a:r>
          </a:p>
        </p:txBody>
      </p:sp>
      <p:sp>
        <p:nvSpPr>
          <p:cNvPr id="15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1313A468-6E54-431C-8F15-FBA34D0F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27E21C65-E1FA-4108-9018-E4089DC8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00202189-7CB3-437E-8787-4B318AD6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2V2</a:t>
            </a:r>
          </a:p>
        </p:txBody>
      </p:sp>
      <p:sp>
        <p:nvSpPr>
          <p:cNvPr id="18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CCFE8FAD-0A95-4D96-9FE1-68550FDE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전멸전·관전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협공·경직 보호</a:t>
            </a:r>
          </a:p>
        </p:txBody>
      </p:sp>
      <p:sp>
        <p:nvSpPr>
          <p:cNvPr id="19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FC52F919-CF40-475E-A63E-CFE7A913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73F974CF-F5FD-4767-83E7-753522FD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719D23DC-E0C0-475D-98FE-0816176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3V3</a:t>
            </a:r>
          </a:p>
        </p:txBody>
      </p:sp>
      <p:sp>
        <p:nvSpPr>
          <p:cNvPr id="22" name="journey-body-3">
            <a:extLst xmlns:a="http://schemas.openxmlformats.org/drawingml/2006/main">
              <a:ext uri="{FF2B5EF4-FFF2-40B4-BE49-F238E27FC236}">
                <a16:creationId xmlns:a16="http://schemas.microsoft.com/office/drawing/2014/main" id="{471B7D2F-48A4-40C8-A5E6-E0F770D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부하·대역폭 검증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3인 HUD·밸런스</a:t>
            </a:r>
          </a:p>
        </p:txBody>
      </p:sp>
      <p:sp>
        <p:nvSpPr>
          <p:cNvPr id="23" name="journey-return">
            <a:extLst xmlns:a="http://schemas.openxmlformats.org/drawingml/2006/main">
              <a:ext uri="{FF2B5EF4-FFF2-40B4-BE49-F238E27FC236}">
                <a16:creationId xmlns:a16="http://schemas.microsoft.com/office/drawing/2014/main" id="{106CD7BC-B0E9-4217-A441-8FEBAB5D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3DB2"/>
                </a:solidFill>
              </a:defRPr>
            </a:pPr>
            <a:r>
              <a:rPr sz="1425" b="1">
                <a:solidFill>
                  <a:srgbClr val="D93DB2"/>
                </a:solidFill>
              </a:rPr>
              <a:t>2대2가 안정되기 전에는 3대3 전용 콘텐츠를 만들지 않는다</a:t>
            </a:r>
          </a:p>
        </p:txBody>
      </p:sp>
    </p:spTree>
    <p:extLst>
      <p:ext uri="{BB962C8B-B14F-4D97-AF65-F5344CB8AC3E}">
        <p14:creationId xmlns:p14="http://schemas.microsoft.com/office/powerpoint/2010/main" val="9457482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6">
            <a:extLst xmlns:a="http://schemas.openxmlformats.org/drawingml/2006/main">
              <a:ext uri="{FF2B5EF4-FFF2-40B4-BE49-F238E27FC236}">
                <a16:creationId xmlns:a16="http://schemas.microsoft.com/office/drawing/2014/main" id="{0031D08B-68FB-4B53-AF6F-8608CF6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TEAM READABILITY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5B48851-4D51-4470-86EE-DC892516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다대다에서는 공격보다 위험의 출처를 먼저 보여줘야 한다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DB61572F-60A3-497E-BC7B-05A52FAA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BD5D9816-23FA-47F2-9417-DECABF4D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17</a:t>
            </a:r>
          </a:p>
        </p:txBody>
      </p:sp>
      <p:sp>
        <p:nvSpPr>
          <p:cNvPr id="5" name="readability-field">
            <a:extLst xmlns:a="http://schemas.openxmlformats.org/drawingml/2006/main">
              <a:ext uri="{FF2B5EF4-FFF2-40B4-BE49-F238E27FC236}">
                <a16:creationId xmlns:a16="http://schemas.microsoft.com/office/drawing/2014/main" id="{F4FCF443-6393-4E81-BF54-5B4E0D45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6197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adability-ring-outer">
            <a:extLst xmlns:a="http://schemas.openxmlformats.org/drawingml/2006/main">
              <a:ext uri="{FF2B5EF4-FFF2-40B4-BE49-F238E27FC236}">
                <a16:creationId xmlns:a16="http://schemas.microsoft.com/office/drawing/2014/main" id="{CA5FB633-1DEE-4B04-B202-C95B8548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3048000" cy="3048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D84F"/>
            </a:solidFill>
            <a:prstDash val="solid"/>
          </a:ln>
        </p:spPr>
      </p:sp>
      <p:sp>
        <p:nvSpPr>
          <p:cNvPr id="7" name="readability-ring-inner">
            <a:extLst xmlns:a="http://schemas.openxmlformats.org/drawingml/2006/main">
              <a:ext uri="{FF2B5EF4-FFF2-40B4-BE49-F238E27FC236}">
                <a16:creationId xmlns:a16="http://schemas.microsoft.com/office/drawing/2014/main" id="{7A0933D3-6E20-4204-9FA0-68DF0D2F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14097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D52E3D"/>
            </a:solidFill>
            <a:prstDash val="solid"/>
          </a:ln>
        </p:spPr>
      </p:sp>
      <p:sp>
        <p:nvSpPr>
          <p:cNvPr id="8" name="readability-count">
            <a:extLst xmlns:a="http://schemas.openxmlformats.org/drawingml/2006/main">
              <a:ext uri="{FF2B5EF4-FFF2-40B4-BE49-F238E27FC236}">
                <a16:creationId xmlns:a16="http://schemas.microsoft.com/office/drawing/2014/main" id="{38C659A4-5A14-4FD5-8098-CE70BC62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19400"/>
            <a:ext cx="2247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B0D10"/>
                </a:solidFill>
              </a:defRPr>
            </a:pPr>
            <a:r>
              <a:rPr sz="2850" b="1">
                <a:solidFill>
                  <a:srgbClr val="0B0D10"/>
                </a:solidFill>
              </a:rPr>
              <a:t>3 → 1</a:t>
            </a:r>
          </a:p>
        </p:txBody>
      </p:sp>
      <p:sp>
        <p:nvSpPr>
          <p:cNvPr id="9" name="readability-lmb">
            <a:extLst xmlns:a="http://schemas.openxmlformats.org/drawingml/2006/main">
              <a:ext uri="{FF2B5EF4-FFF2-40B4-BE49-F238E27FC236}">
                <a16:creationId xmlns:a16="http://schemas.microsoft.com/office/drawing/2014/main" id="{1D9CB5F5-894C-4239-9B54-1BD36791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195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D52E3D"/>
                </a:solidFill>
              </a:defRPr>
            </a:pPr>
            <a:r>
              <a:rPr sz="2100" b="1">
                <a:solidFill>
                  <a:srgbClr val="D52E3D"/>
                </a:solidFill>
              </a:rPr>
              <a:t>FOCUS</a:t>
            </a:r>
          </a:p>
        </p:txBody>
      </p:sp>
      <p:sp>
        <p:nvSpPr>
          <p:cNvPr id="10" name="readability-caption">
            <a:extLst xmlns:a="http://schemas.openxmlformats.org/drawingml/2006/main">
              <a:ext uri="{FF2B5EF4-FFF2-40B4-BE49-F238E27FC236}">
                <a16:creationId xmlns:a16="http://schemas.microsoft.com/office/drawing/2014/main" id="{E2292304-1AA0-414E-942E-881CE32B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D10"/>
                </a:solidFill>
              </a:defRPr>
            </a:pPr>
            <a:r>
              <a:rPr sz="1500" b="1">
                <a:solidFill>
                  <a:srgbClr val="0B0D10"/>
                </a:solidFill>
              </a:rPr>
              <a:t>여러 위험 중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B0D10"/>
                </a:solidFill>
              </a:defRPr>
            </a:pPr>
            <a:r>
              <a:rPr sz="1500" b="1">
                <a:solidFill>
                  <a:srgbClr val="0B0D10"/>
                </a:solidFill>
              </a:rPr>
              <a:t>지금 대응할 하나를 강조</a:t>
            </a:r>
          </a:p>
        </p:txBody>
      </p:sp>
      <p:sp>
        <p:nvSpPr>
          <p:cNvPr id="11" name="read-b1-dot">
            <a:extLst xmlns:a="http://schemas.openxmlformats.org/drawingml/2006/main">
              <a:ext uri="{FF2B5EF4-FFF2-40B4-BE49-F238E27FC236}">
                <a16:creationId xmlns:a16="http://schemas.microsoft.com/office/drawing/2014/main" id="{69DD402E-84B6-4BBF-AD5C-15422DCE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ad-b1-title">
            <a:extLst xmlns:a="http://schemas.openxmlformats.org/drawingml/2006/main">
              <a:ext uri="{FF2B5EF4-FFF2-40B4-BE49-F238E27FC236}">
                <a16:creationId xmlns:a16="http://schemas.microsoft.com/office/drawing/2014/main" id="{438DF166-7D22-4CDC-9719-E70C0973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아군·적군 식별</a:t>
            </a:r>
          </a:p>
        </p:txBody>
      </p:sp>
      <p:sp>
        <p:nvSpPr>
          <p:cNvPr id="13" name="read-b1-body">
            <a:extLst xmlns:a="http://schemas.openxmlformats.org/drawingml/2006/main">
              <a:ext uri="{FF2B5EF4-FFF2-40B4-BE49-F238E27FC236}">
                <a16:creationId xmlns:a16="http://schemas.microsoft.com/office/drawing/2014/main" id="{F3E6EB39-398E-445B-83FD-6F8C3FF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팔레트·외곽선·상단 체력바를 팀 단위로 통일한다.</a:t>
            </a:r>
          </a:p>
        </p:txBody>
      </p:sp>
      <p:sp>
        <p:nvSpPr>
          <p:cNvPr id="14" name="read-b2-dot">
            <a:extLst xmlns:a="http://schemas.openxmlformats.org/drawingml/2006/main">
              <a:ext uri="{FF2B5EF4-FFF2-40B4-BE49-F238E27FC236}">
                <a16:creationId xmlns:a16="http://schemas.microsoft.com/office/drawing/2014/main" id="{C95ECD1C-3874-4404-A22C-E7D76D28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ad-b2-title">
            <a:extLst xmlns:a="http://schemas.openxmlformats.org/drawingml/2006/main">
              <a:ext uri="{FF2B5EF4-FFF2-40B4-BE49-F238E27FC236}">
                <a16:creationId xmlns:a16="http://schemas.microsoft.com/office/drawing/2014/main" id="{2D08E40D-0F34-4E54-A4B0-07BDE1E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화면 밖 위험</a:t>
            </a:r>
          </a:p>
        </p:txBody>
      </p:sp>
      <p:sp>
        <p:nvSpPr>
          <p:cNvPr id="16" name="read-b2-body">
            <a:extLst xmlns:a="http://schemas.openxmlformats.org/drawingml/2006/main">
              <a:ext uri="{FF2B5EF4-FFF2-40B4-BE49-F238E27FC236}">
                <a16:creationId xmlns:a16="http://schemas.microsoft.com/office/drawing/2014/main" id="{3757AB26-45EA-4341-8A8E-91FE4334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099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공격 방향·거리·접촉 임박을 가까운 위협부터 표시한다.</a:t>
            </a:r>
          </a:p>
        </p:txBody>
      </p:sp>
      <p:sp>
        <p:nvSpPr>
          <p:cNvPr id="17" name="read-b3-dot">
            <a:extLst xmlns:a="http://schemas.openxmlformats.org/drawingml/2006/main">
              <a:ext uri="{FF2B5EF4-FFF2-40B4-BE49-F238E27FC236}">
                <a16:creationId xmlns:a16="http://schemas.microsoft.com/office/drawing/2014/main" id="{9C60A125-F7D4-4234-A6C5-293FEF63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57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ad-b3-title">
            <a:extLst xmlns:a="http://schemas.openxmlformats.org/drawingml/2006/main">
              <a:ext uri="{FF2B5EF4-FFF2-40B4-BE49-F238E27FC236}">
                <a16:creationId xmlns:a16="http://schemas.microsoft.com/office/drawing/2014/main" id="{5B8EE009-7B24-45FE-B82B-D2C7D688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연속 피격 보호</a:t>
            </a:r>
          </a:p>
        </p:txBody>
      </p:sp>
      <p:sp>
        <p:nvSpPr>
          <p:cNvPr id="19" name="read-b3-body">
            <a:extLst xmlns:a="http://schemas.openxmlformats.org/drawingml/2006/main">
              <a:ext uri="{FF2B5EF4-FFF2-40B4-BE49-F238E27FC236}">
                <a16:creationId xmlns:a16="http://schemas.microsoft.com/office/drawing/2014/main" id="{3B71FD00-20DD-4400-A97A-36BBA7D1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62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다중 공격의 무한 경직을 막되 무조건 탈출은 허용하지 않는다.</a:t>
            </a:r>
          </a:p>
        </p:txBody>
      </p:sp>
      <p:sp>
        <p:nvSpPr>
          <p:cNvPr id="20" name="read-b4-dot">
            <a:extLst xmlns:a="http://schemas.openxmlformats.org/drawingml/2006/main">
              <a:ext uri="{FF2B5EF4-FFF2-40B4-BE49-F238E27FC236}">
                <a16:creationId xmlns:a16="http://schemas.microsoft.com/office/drawing/2014/main" id="{120991E0-4EAC-4C0D-AEF2-555A5D80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ad-b4-title">
            <a:extLst xmlns:a="http://schemas.openxmlformats.org/drawingml/2006/main">
              <a:ext uri="{FF2B5EF4-FFF2-40B4-BE49-F238E27FC236}">
                <a16:creationId xmlns:a16="http://schemas.microsoft.com/office/drawing/2014/main" id="{1441DD72-93C4-4E5A-A2C5-B93827F5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33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접근성·설정</a:t>
            </a:r>
          </a:p>
        </p:txBody>
      </p:sp>
      <p:sp>
        <p:nvSpPr>
          <p:cNvPr id="22" name="read-b4-body">
            <a:extLst xmlns:a="http://schemas.openxmlformats.org/drawingml/2006/main">
              <a:ext uri="{FF2B5EF4-FFF2-40B4-BE49-F238E27FC236}">
                <a16:creationId xmlns:a16="http://schemas.microsoft.com/office/drawing/2014/main" id="{B82925FC-B4BA-4EBF-BF57-01DFCF6F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키 변경·색약 팔레트·이펙트 강도·지연 표시를 제공한다.</a:t>
            </a:r>
          </a:p>
        </p:txBody>
      </p:sp>
    </p:spTree>
    <p:extLst>
      <p:ext uri="{BB962C8B-B14F-4D97-AF65-F5344CB8AC3E}">
        <p14:creationId xmlns:p14="http://schemas.microsoft.com/office/powerpoint/2010/main" val="20074128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8">
            <a:extLst xmlns:a="http://schemas.openxmlformats.org/drawingml/2006/main">
              <a:ext uri="{FF2B5EF4-FFF2-40B4-BE49-F238E27FC236}">
                <a16:creationId xmlns:a16="http://schemas.microsoft.com/office/drawing/2014/main" id="{4E9184B8-C53C-43B5-A1A9-7523923D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DELIVERY GATES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BEFF953-76A5-4533-A450-C81B272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완료 게이트를 통과할 때만 다음 규모로 확장한다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1105A4F9-13E0-4094-9471-6C9C975D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2F4ABF80-DDEB-4743-BF42-695A92F4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18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1790700"/>
          <a:ext xmlns:a="http://schemas.openxmlformats.org/drawingml/2006/main" cx="113919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905250"/>
                <a:gridCol w="5534025"/>
              </a:tblGrid>
              <a:tr h="4816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핵심 산출물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완료 게이트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1  TRAINING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패링·회피 연습장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HUD 없이 타이밍 학습 가능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2  ONLINE 1V1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인증·로비·서버 판정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재접속·지연·승패 일치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3  MAP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대칭 회색박스 2~3종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스폰·경계·카메라 공정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4  TEAM 2V2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전멸전·관전·협공 규칙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무한 경직·도주 최적화 없음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5  TEAM 3V3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3인 HUD·부하 대응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FPS·대역폭·가독성 기준 통과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6  CONTENT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캐릭터 3종·VFX·사운드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역할 차별·수평 밸런스 유지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commands-label">
            <a:extLst xmlns:a="http://schemas.openxmlformats.org/drawingml/2006/main">
              <a:ext uri="{FF2B5EF4-FFF2-40B4-BE49-F238E27FC236}">
                <a16:creationId xmlns:a16="http://schemas.microsoft.com/office/drawing/2014/main" id="{8DACA4B7-E3FF-4324-AF8F-247EE480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우선 개발 순서</a:t>
            </a:r>
          </a:p>
        </p:txBody>
      </p:sp>
      <p:sp>
        <p:nvSpPr>
          <p:cNvPr id="7" name="commands">
            <a:extLst xmlns:a="http://schemas.openxmlformats.org/drawingml/2006/main">
              <a:ext uri="{FF2B5EF4-FFF2-40B4-BE49-F238E27FC236}">
                <a16:creationId xmlns:a16="http://schemas.microsoft.com/office/drawing/2014/main" id="{73A8085C-399B-4F5E-9F93-2D0DE1CA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02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0D10"/>
                </a:solidFill>
              </a:defRPr>
            </a:pPr>
            <a:r>
              <a:rPr sz="1650" b="1">
                <a:solidFill>
                  <a:srgbClr val="0B0D10"/>
                </a:solidFill>
              </a:rPr>
              <a:t>연습장  →  온라인 1v1  →  맵  →  2v2  →  3v3  →  콘텐츠</a:t>
            </a:r>
          </a:p>
        </p:txBody>
      </p:sp>
    </p:spTree>
    <p:extLst>
      <p:ext uri="{BB962C8B-B14F-4D97-AF65-F5344CB8AC3E}">
        <p14:creationId xmlns:p14="http://schemas.microsoft.com/office/powerpoint/2010/main" val="18722172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7E01F361-9231-4A11-82A7-6EB7BB6D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NEXT DEVELOPMENT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DF8B227-02DF-478E-A352-E45CF927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미개발 기능은 의존성 순서로 만든다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CA0CF513-83BA-4CD4-9B1C-E7DF213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56AD6109-4013-4F44-9BFB-0721246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19</a:t>
            </a:r>
          </a:p>
        </p:txBody>
      </p:sp>
      <p:sp>
        <p:nvSpPr>
          <p:cNvPr id="5" name="journey-subtitle">
            <a:extLst xmlns:a="http://schemas.openxmlformats.org/drawingml/2006/main">
              <a:ext uri="{FF2B5EF4-FFF2-40B4-BE49-F238E27FC236}">
                <a16:creationId xmlns:a16="http://schemas.microsoft.com/office/drawing/2014/main" id="{40C082CC-2B4F-48D5-8C35-3FF41EFD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앞 단계의 데이터·네트워크 계약을 다음 단계가 그대로 사용하도록 순서대로 개발한다.</a:t>
            </a:r>
          </a:p>
        </p:txBody>
      </p:sp>
      <p:sp>
        <p:nvSpPr>
          <p:cNvPr id="6" name="journey-connector">
            <a:extLst xmlns:a="http://schemas.openxmlformats.org/drawingml/2006/main">
              <a:ext uri="{FF2B5EF4-FFF2-40B4-BE49-F238E27FC236}">
                <a16:creationId xmlns:a16="http://schemas.microsoft.com/office/drawing/2014/main" id="{43B9E5C7-E938-4184-B578-3533C64D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0425"/>
            <a:ext cx="969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C8EA6144-1432-469A-8801-D0840A91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num-0">
            <a:extLst xmlns:a="http://schemas.openxmlformats.org/drawingml/2006/main">
              <a:ext uri="{FF2B5EF4-FFF2-40B4-BE49-F238E27FC236}">
                <a16:creationId xmlns:a16="http://schemas.microsoft.com/office/drawing/2014/main" id="{A9148166-7C0D-4127-BEB3-9024AA3C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journey-title-0">
            <a:extLst xmlns:a="http://schemas.openxmlformats.org/drawingml/2006/main">
              <a:ext uri="{FF2B5EF4-FFF2-40B4-BE49-F238E27FC236}">
                <a16:creationId xmlns:a16="http://schemas.microsoft.com/office/drawing/2014/main" id="{04DDDA4E-5ED1-4C5E-9C31-886F793F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ACCOUNT CORE</a:t>
            </a:r>
          </a:p>
        </p:txBody>
      </p:sp>
      <p:sp>
        <p:nvSpPr>
          <p:cNvPr id="10" name="journey-body-0">
            <a:extLst xmlns:a="http://schemas.openxmlformats.org/drawingml/2006/main">
              <a:ext uri="{FF2B5EF4-FFF2-40B4-BE49-F238E27FC236}">
                <a16:creationId xmlns:a16="http://schemas.microsoft.com/office/drawing/2014/main" id="{0C330F27-961D-4EC9-84D0-B4FA1DED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로그인·세션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프로필 DB</a:t>
            </a:r>
          </a:p>
        </p:txBody>
      </p:sp>
      <p:sp>
        <p:nvSpPr>
          <p:cNvPr id="11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5F25C523-E5E7-49CB-9747-3B38B45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urney-num-1">
            <a:extLst xmlns:a="http://schemas.openxmlformats.org/drawingml/2006/main">
              <a:ext uri="{FF2B5EF4-FFF2-40B4-BE49-F238E27FC236}">
                <a16:creationId xmlns:a16="http://schemas.microsoft.com/office/drawing/2014/main" id="{7AF25DE1-109B-49C4-AF9B-53F5C7A3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1137D6F0-4A98-4397-8843-3452C189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ONLINE 1V1</a:t>
            </a:r>
          </a:p>
        </p:txBody>
      </p:sp>
      <p:sp>
        <p:nvSpPr>
          <p:cNvPr id="14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CBC4836A-60CB-4923-9C91-3D928E6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로비·방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서버 권위 판정</a:t>
            </a:r>
          </a:p>
        </p:txBody>
      </p:sp>
      <p:sp>
        <p:nvSpPr>
          <p:cNvPr id="15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1313A468-6E54-431C-8F15-FBA34D0F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journey-num-2">
            <a:extLst xmlns:a="http://schemas.openxmlformats.org/drawingml/2006/main">
              <a:ext uri="{FF2B5EF4-FFF2-40B4-BE49-F238E27FC236}">
                <a16:creationId xmlns:a16="http://schemas.microsoft.com/office/drawing/2014/main" id="{27E21C65-E1FA-4108-9018-E4089DC8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00202189-7CB3-437E-8787-4B318AD6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PERSONAL PAGE</a:t>
            </a:r>
          </a:p>
        </p:txBody>
      </p:sp>
      <p:sp>
        <p:nvSpPr>
          <p:cNvPr id="18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CCFE8FAD-0A95-4D96-9FE1-68550FDE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인벤토리·특성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장착·저장</a:t>
            </a:r>
          </a:p>
        </p:txBody>
      </p:sp>
      <p:sp>
        <p:nvSpPr>
          <p:cNvPr id="19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FC52F919-CF40-475E-A63E-CFE7A913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journey-num-3">
            <a:extLst xmlns:a="http://schemas.openxmlformats.org/drawingml/2006/main">
              <a:ext uri="{FF2B5EF4-FFF2-40B4-BE49-F238E27FC236}">
                <a16:creationId xmlns:a16="http://schemas.microsoft.com/office/drawing/2014/main" id="{73F974CF-F5FD-4767-83E7-753522FD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812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719D23DC-E0C0-475D-98FE-0816176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10"/>
                </a:solidFill>
              </a:defRPr>
            </a:pPr>
            <a:r>
              <a:rPr sz="1875" b="1">
                <a:solidFill>
                  <a:srgbClr val="0B0D10"/>
                </a:solidFill>
              </a:rPr>
              <a:t>EXPANSION</a:t>
            </a:r>
          </a:p>
        </p:txBody>
      </p:sp>
      <p:sp>
        <p:nvSpPr>
          <p:cNvPr id="22" name="journey-body-3">
            <a:extLst xmlns:a="http://schemas.openxmlformats.org/drawingml/2006/main">
              <a:ext uri="{FF2B5EF4-FFF2-40B4-BE49-F238E27FC236}">
                <a16:creationId xmlns:a16="http://schemas.microsoft.com/office/drawing/2014/main" id="{471B7D2F-48A4-40C8-A5E6-E0F770D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맵 → 팀전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6773"/>
                </a:solidFill>
              </a:defRPr>
            </a:pPr>
            <a:r>
              <a:rPr sz="1350" b="0">
                <a:solidFill>
                  <a:srgbClr val="606773"/>
                </a:solidFill>
              </a:rPr>
              <a:t>캐릭터·VFX</a:t>
            </a:r>
          </a:p>
        </p:txBody>
      </p:sp>
      <p:sp>
        <p:nvSpPr>
          <p:cNvPr id="23" name="journey-return">
            <a:extLst xmlns:a="http://schemas.openxmlformats.org/drawingml/2006/main">
              <a:ext uri="{FF2B5EF4-FFF2-40B4-BE49-F238E27FC236}">
                <a16:creationId xmlns:a16="http://schemas.microsoft.com/office/drawing/2014/main" id="{106CD7BC-B0E9-4217-A441-8FEBAB5D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3DB2"/>
                </a:solidFill>
              </a:defRPr>
            </a:pPr>
            <a:r>
              <a:rPr sz="1425" b="1">
                <a:solidFill>
                  <a:srgbClr val="D93DB2"/>
                </a:solidFill>
              </a:rPr>
              <a:t>지금 시작: ACCOUNT CORE   |   완료 후 ONLINE 1V1</a:t>
            </a:r>
          </a:p>
        </p:txBody>
      </p:sp>
    </p:spTree>
    <p:extLst>
      <p:ext uri="{BB962C8B-B14F-4D97-AF65-F5344CB8AC3E}">
        <p14:creationId xmlns:p14="http://schemas.microsoft.com/office/powerpoint/2010/main" val="9457482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7">
            <a:extLst xmlns:a="http://schemas.openxmlformats.org/drawingml/2006/main">
              <a:ext uri="{FF2B5EF4-FFF2-40B4-BE49-F238E27FC236}">
                <a16:creationId xmlns:a16="http://schemas.microsoft.com/office/drawing/2014/main" id="{712AB4FB-7750-434C-9B6D-24CB00A9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STEP 1 · ACCOUNT CORE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AB4675E-F863-441F-B650-44058C05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먼저 로그인과 서버 저장의 최소 골격을 만든다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B43D982B-84A5-4337-8C20-F058CE2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6854A6CF-9F73-42C1-AAD2-8744F7A0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20</a:t>
            </a:r>
          </a:p>
        </p:txBody>
      </p:sp>
      <p:sp>
        <p:nvSpPr>
          <p:cNvPr id="5" name="state-subtitle">
            <a:extLst xmlns:a="http://schemas.openxmlformats.org/drawingml/2006/main">
              <a:ext uri="{FF2B5EF4-FFF2-40B4-BE49-F238E27FC236}">
                <a16:creationId xmlns:a16="http://schemas.microsoft.com/office/drawing/2014/main" id="{0355CEFE-5ABB-4F29-8A2E-6F9D3B61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기능을 늘리기 전에 사용자·세션·프로필의 단일 권한을 서버에 둔다.</a:t>
            </a:r>
          </a:p>
        </p:txBody>
      </p:sp>
      <p:sp>
        <p:nvSpPr>
          <p:cNvPr id="6" name="session-band">
            <a:extLst xmlns:a="http://schemas.openxmlformats.org/drawingml/2006/main">
              <a:ext uri="{FF2B5EF4-FFF2-40B4-BE49-F238E27FC236}">
                <a16:creationId xmlns:a16="http://schemas.microsoft.com/office/drawing/2014/main" id="{4978DA89-CE0A-435B-9BFE-2D0ADB2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ssion-title">
            <a:extLst xmlns:a="http://schemas.openxmlformats.org/drawingml/2006/main">
              <a:ext uri="{FF2B5EF4-FFF2-40B4-BE49-F238E27FC236}">
                <a16:creationId xmlns:a16="http://schemas.microsoft.com/office/drawing/2014/main" id="{8E40B8C2-793E-4FD1-A95F-BFBF6A33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API / SESSION</a:t>
            </a:r>
          </a:p>
        </p:txBody>
      </p:sp>
      <p:sp>
        <p:nvSpPr>
          <p:cNvPr id="8" name="session-flow">
            <a:extLst xmlns:a="http://schemas.openxmlformats.org/drawingml/2006/main">
              <a:ext uri="{FF2B5EF4-FFF2-40B4-BE49-F238E27FC236}">
                <a16:creationId xmlns:a16="http://schemas.microsoft.com/office/drawing/2014/main" id="{9781E19A-02C0-4035-AE7D-C3689888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0D10"/>
                </a:solidFill>
              </a:defRPr>
            </a:pPr>
            <a:r>
              <a:rPr sz="1725" b="1">
                <a:solidFill>
                  <a:srgbClr val="0B0D10"/>
                </a:solidFill>
              </a:rPr>
              <a:t>REGISTER  →  SIGN IN  →  REFRESH  →  LOG OUT</a:t>
            </a:r>
          </a:p>
        </p:txBody>
      </p:sp>
      <p:sp>
        <p:nvSpPr>
          <p:cNvPr id="9" name="loadout-band">
            <a:extLst xmlns:a="http://schemas.openxmlformats.org/drawingml/2006/main">
              <a:ext uri="{FF2B5EF4-FFF2-40B4-BE49-F238E27FC236}">
                <a16:creationId xmlns:a16="http://schemas.microsoft.com/office/drawing/2014/main" id="{B8816CB2-A7F1-4739-9FDF-C831752D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723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loadout-title">
            <a:extLst xmlns:a="http://schemas.openxmlformats.org/drawingml/2006/main">
              <a:ext uri="{FF2B5EF4-FFF2-40B4-BE49-F238E27FC236}">
                <a16:creationId xmlns:a16="http://schemas.microsoft.com/office/drawing/2014/main" id="{16C16CB9-F385-4D55-AF17-5603735D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3DB2"/>
                </a:solidFill>
              </a:defRPr>
            </a:pPr>
            <a:r>
              <a:rPr sz="1800" b="1">
                <a:solidFill>
                  <a:srgbClr val="D93DB2"/>
                </a:solidFill>
              </a:rPr>
              <a:t>DATABASE</a:t>
            </a:r>
          </a:p>
        </p:txBody>
      </p:sp>
      <p:sp>
        <p:nvSpPr>
          <p:cNvPr id="11" name="loadout-flow">
            <a:extLst xmlns:a="http://schemas.openxmlformats.org/drawingml/2006/main">
              <a:ext uri="{FF2B5EF4-FFF2-40B4-BE49-F238E27FC236}">
                <a16:creationId xmlns:a16="http://schemas.microsoft.com/office/drawing/2014/main" id="{C94C8AAA-D7CB-496D-A15E-B5D30620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0D10"/>
                </a:solidFill>
              </a:defRPr>
            </a:pPr>
            <a:r>
              <a:rPr sz="1725" b="1">
                <a:solidFill>
                  <a:srgbClr val="0B0D10"/>
                </a:solidFill>
              </a:rPr>
              <a:t>USER  +  PROFILE  +  LOADOUT SNAPSHOT</a:t>
            </a:r>
          </a:p>
        </p:txBody>
      </p:sp>
      <p:sp>
        <p:nvSpPr>
          <p:cNvPr id="12" name="loadout-key">
            <a:extLst xmlns:a="http://schemas.openxmlformats.org/drawingml/2006/main">
              <a:ext uri="{FF2B5EF4-FFF2-40B4-BE49-F238E27FC236}">
                <a16:creationId xmlns:a16="http://schemas.microsoft.com/office/drawing/2014/main" id="{1C49C70F-B4CE-4423-BFEE-21482209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773"/>
                </a:solidFill>
              </a:defRPr>
            </a:pPr>
            <a:r>
              <a:rPr sz="1200" b="0">
                <a:solidFill>
                  <a:srgbClr val="606773"/>
                </a:solidFill>
              </a:rPr>
              <a:t>users · sessions · profiles · loadouts</a:t>
            </a:r>
          </a:p>
        </p:txBody>
      </p:sp>
      <p:sp>
        <p:nvSpPr>
          <p:cNvPr id="13" name="state-limit-title">
            <a:extLst xmlns:a="http://schemas.openxmlformats.org/drawingml/2006/main">
              <a:ext uri="{FF2B5EF4-FFF2-40B4-BE49-F238E27FC236}">
                <a16:creationId xmlns:a16="http://schemas.microsoft.com/office/drawing/2014/main" id="{F19C1A39-E107-4C00-9C20-84650740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0D10"/>
                </a:solidFill>
              </a:defRPr>
            </a:pPr>
            <a:r>
              <a:rPr sz="2025" b="1">
                <a:solidFill>
                  <a:srgbClr val="0B0D10"/>
                </a:solidFill>
              </a:rPr>
              <a:t>구현 방식 / 완료 기준</a:t>
            </a:r>
          </a:p>
        </p:txBody>
      </p:sp>
      <p:sp>
        <p:nvSpPr>
          <p:cNvPr id="14" name="state-limits">
            <a:extLst xmlns:a="http://schemas.openxmlformats.org/drawingml/2006/main">
              <a:ext uri="{FF2B5EF4-FFF2-40B4-BE49-F238E27FC236}">
                <a16:creationId xmlns:a16="http://schemas.microsoft.com/office/drawing/2014/main" id="{5F643BD3-B4B8-4B35-A671-89A1188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비밀번호 해시·세션 만료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API 입력 검증·오류 규격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로그인→메인→재접속 복원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계정 간 데이터 섞임 0건</a:t>
            </a:r>
          </a:p>
        </p:txBody>
      </p:sp>
    </p:spTree>
    <p:extLst>
      <p:ext uri="{BB962C8B-B14F-4D97-AF65-F5344CB8AC3E}">
        <p14:creationId xmlns:p14="http://schemas.microsoft.com/office/powerpoint/2010/main" val="21022453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7">
            <a:extLst xmlns:a="http://schemas.openxmlformats.org/drawingml/2006/main">
              <a:ext uri="{FF2B5EF4-FFF2-40B4-BE49-F238E27FC236}">
                <a16:creationId xmlns:a16="http://schemas.microsoft.com/office/drawing/2014/main" id="{712AB4FB-7750-434C-9B6D-24CB00A9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STEP 2 · ONLINE 1V1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AB4675E-F863-441F-B650-44058C05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다음은 기존 60Hz 전투를 서버 권위 1대1로 옮긴다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B43D982B-84A5-4337-8C20-F058CE2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6854A6CF-9F73-42C1-AAD2-8744F7A0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21</a:t>
            </a:r>
          </a:p>
        </p:txBody>
      </p:sp>
      <p:sp>
        <p:nvSpPr>
          <p:cNvPr id="5" name="state-subtitle">
            <a:extLst xmlns:a="http://schemas.openxmlformats.org/drawingml/2006/main">
              <a:ext uri="{FF2B5EF4-FFF2-40B4-BE49-F238E27FC236}">
                <a16:creationId xmlns:a16="http://schemas.microsoft.com/office/drawing/2014/main" id="{0355CEFE-5ABB-4F29-8A2E-6F9D3B61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화면은 클라이언트가 그리되 피해·패링·승패는 서버 판정을 따른다.</a:t>
            </a:r>
          </a:p>
        </p:txBody>
      </p:sp>
      <p:sp>
        <p:nvSpPr>
          <p:cNvPr id="6" name="session-band">
            <a:extLst xmlns:a="http://schemas.openxmlformats.org/drawingml/2006/main">
              <a:ext uri="{FF2B5EF4-FFF2-40B4-BE49-F238E27FC236}">
                <a16:creationId xmlns:a16="http://schemas.microsoft.com/office/drawing/2014/main" id="{4978DA89-CE0A-435B-9BFE-2D0ADB2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ssion-title">
            <a:extLst xmlns:a="http://schemas.openxmlformats.org/drawingml/2006/main">
              <a:ext uri="{FF2B5EF4-FFF2-40B4-BE49-F238E27FC236}">
                <a16:creationId xmlns:a16="http://schemas.microsoft.com/office/drawing/2014/main" id="{8E40B8C2-793E-4FD1-A95F-BFBF6A33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MATCH FLOW</a:t>
            </a:r>
          </a:p>
        </p:txBody>
      </p:sp>
      <p:sp>
        <p:nvSpPr>
          <p:cNvPr id="8" name="session-flow">
            <a:extLst xmlns:a="http://schemas.openxmlformats.org/drawingml/2006/main">
              <a:ext uri="{FF2B5EF4-FFF2-40B4-BE49-F238E27FC236}">
                <a16:creationId xmlns:a16="http://schemas.microsoft.com/office/drawing/2014/main" id="{9781E19A-02C0-4035-AE7D-C3689888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0D10"/>
                </a:solidFill>
              </a:defRPr>
            </a:pPr>
            <a:r>
              <a:rPr sz="1725" b="1">
                <a:solidFill>
                  <a:srgbClr val="0B0D10"/>
                </a:solidFill>
              </a:rPr>
              <a:t>LOBBY  →  PRIVATE ROOM  →  READY  →  60s MATCH  →  RESULT</a:t>
            </a:r>
          </a:p>
        </p:txBody>
      </p:sp>
      <p:sp>
        <p:nvSpPr>
          <p:cNvPr id="9" name="loadout-band">
            <a:extLst xmlns:a="http://schemas.openxmlformats.org/drawingml/2006/main">
              <a:ext uri="{FF2B5EF4-FFF2-40B4-BE49-F238E27FC236}">
                <a16:creationId xmlns:a16="http://schemas.microsoft.com/office/drawing/2014/main" id="{B8816CB2-A7F1-4739-9FDF-C831752D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723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loadout-title">
            <a:extLst xmlns:a="http://schemas.openxmlformats.org/drawingml/2006/main">
              <a:ext uri="{FF2B5EF4-FFF2-40B4-BE49-F238E27FC236}">
                <a16:creationId xmlns:a16="http://schemas.microsoft.com/office/drawing/2014/main" id="{16C16CB9-F385-4D55-AF17-5603735D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3DB2"/>
                </a:solidFill>
              </a:defRPr>
            </a:pPr>
            <a:r>
              <a:rPr sz="1800" b="1">
                <a:solidFill>
                  <a:srgbClr val="D93DB2"/>
                </a:solidFill>
              </a:rPr>
              <a:t>NETWORK LOOP</a:t>
            </a:r>
          </a:p>
        </p:txBody>
      </p:sp>
      <p:sp>
        <p:nvSpPr>
          <p:cNvPr id="11" name="loadout-flow">
            <a:extLst xmlns:a="http://schemas.openxmlformats.org/drawingml/2006/main">
              <a:ext uri="{FF2B5EF4-FFF2-40B4-BE49-F238E27FC236}">
                <a16:creationId xmlns:a16="http://schemas.microsoft.com/office/drawing/2014/main" id="{C94C8AAA-D7CB-496D-A15E-B5D30620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0D10"/>
                </a:solidFill>
              </a:defRPr>
            </a:pPr>
            <a:r>
              <a:rPr sz="1725" b="1">
                <a:solidFill>
                  <a:srgbClr val="0B0D10"/>
                </a:solidFill>
              </a:rPr>
              <a:t>INPUT  →  SERVER TICK  →  SNAPSHOT  →  INTERPOLATION</a:t>
            </a:r>
          </a:p>
        </p:txBody>
      </p:sp>
      <p:sp>
        <p:nvSpPr>
          <p:cNvPr id="12" name="loadout-key">
            <a:extLst xmlns:a="http://schemas.openxmlformats.org/drawingml/2006/main">
              <a:ext uri="{FF2B5EF4-FFF2-40B4-BE49-F238E27FC236}">
                <a16:creationId xmlns:a16="http://schemas.microsoft.com/office/drawing/2014/main" id="{1C49C70F-B4CE-4423-BFEE-21482209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6773"/>
                </a:solidFill>
              </a:defRPr>
            </a:pPr>
            <a:r>
              <a:rPr sz="1200" b="0">
                <a:solidFill>
                  <a:srgbClr val="606773"/>
                </a:solidFill>
              </a:rPr>
              <a:t>sequence id · reconnect · timeout · latency simulation</a:t>
            </a:r>
          </a:p>
        </p:txBody>
      </p:sp>
      <p:sp>
        <p:nvSpPr>
          <p:cNvPr id="13" name="state-limit-title">
            <a:extLst xmlns:a="http://schemas.openxmlformats.org/drawingml/2006/main">
              <a:ext uri="{FF2B5EF4-FFF2-40B4-BE49-F238E27FC236}">
                <a16:creationId xmlns:a16="http://schemas.microsoft.com/office/drawing/2014/main" id="{F19C1A39-E107-4C00-9C20-84650740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0D10"/>
                </a:solidFill>
              </a:defRPr>
            </a:pPr>
            <a:r>
              <a:rPr sz="2025" b="1">
                <a:solidFill>
                  <a:srgbClr val="0B0D10"/>
                </a:solidFill>
              </a:rPr>
              <a:t>구현 방식 / 완료 기준</a:t>
            </a:r>
          </a:p>
        </p:txBody>
      </p:sp>
      <p:sp>
        <p:nvSpPr>
          <p:cNvPr id="14" name="state-limits">
            <a:extLst xmlns:a="http://schemas.openxmlformats.org/drawingml/2006/main">
              <a:ext uri="{FF2B5EF4-FFF2-40B4-BE49-F238E27FC236}">
                <a16:creationId xmlns:a16="http://schemas.microsoft.com/office/drawing/2014/main" id="{5F643BD3-B4B8-4B35-A671-89A1188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입력 번호와 fixed-tick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서버가 HP·패링·승패 결정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지연·손실에서도 상태 수렴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06773"/>
                </a:solidFill>
              </a:defRPr>
            </a:pPr>
            <a:r>
              <a:rPr sz="1500" b="0">
                <a:solidFill>
                  <a:srgbClr val="606773"/>
                </a:solidFill>
              </a:rPr>
              <a:t>• 이탈·중복 보상 방지</a:t>
            </a:r>
          </a:p>
        </p:txBody>
      </p:sp>
    </p:spTree>
    <p:extLst>
      <p:ext uri="{BB962C8B-B14F-4D97-AF65-F5344CB8AC3E}">
        <p14:creationId xmlns:p14="http://schemas.microsoft.com/office/powerpoint/2010/main" val="21022453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8">
            <a:extLst xmlns:a="http://schemas.openxmlformats.org/drawingml/2006/main">
              <a:ext uri="{FF2B5EF4-FFF2-40B4-BE49-F238E27FC236}">
                <a16:creationId xmlns:a16="http://schemas.microsoft.com/office/drawing/2014/main" id="{4E9184B8-C53C-43B5-A1A9-7523923D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AFTER ONLINE 1V1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BEFF953-76A5-4533-A450-C81B272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D10"/>
                </a:solidFill>
              </a:defRPr>
            </a:pPr>
            <a:r>
              <a:rPr sz="3150" b="1">
                <a:solidFill>
                  <a:srgbClr val="0B0D10"/>
                </a:solidFill>
              </a:rPr>
              <a:t>1대1이 안정되면 개인화와 콘텐츠를 순차 확장한다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1105A4F9-13E0-4094-9471-6C9C975D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2F4ABF80-DDEB-4743-BF42-695A92F4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22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1790700"/>
          <a:ext xmlns:a="http://schemas.openxmlformats.org/drawingml/2006/main" cx="113919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905250"/>
                <a:gridCol w="5534025"/>
              </a:tblGrid>
              <a:tr h="4816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어떻게 구현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완료 기준</a:t>
                      </a:r>
                    </a:p>
                  </a:txBody>
                  <a:tcPr marL="91440" marR="91440" marT="45720" marB="45720">
                    <a:solidFill>
                      <a:srgbClr val="0C1422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3  PERSONAL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인벤토리·특성·장착 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재접속 후 장착 복원·서버 검증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4  MAP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스폰·경계·카메라 규칙 데이터화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맵 2종에서 같은 전투 테스트 통과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5  TEAM 2V2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팀·타깃·관전·이탈 규칙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4인 한 판 완주·무한 경직 없음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6  TEAM 3V3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HUD·대역폭·부하 대응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6인 동기화·성능 기준 통과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7  CHARACTER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베이스 캐릭터 후 변형 추가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실루엣·공격 가독성 유지</a:t>
                      </a:r>
                    </a:p>
                  </a:txBody>
                  <a:tcPr marL="91440" marR="91440" marT="45720" marB="4572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8  VFX / SOUND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판정 이벤트에서 효과만 재생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0D10"/>
                          </a:solidFill>
                        </a:rPr>
                        <a:t>판정 은폐 없이 성능 기준 유지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commands-label">
            <a:extLst xmlns:a="http://schemas.openxmlformats.org/drawingml/2006/main">
              <a:ext uri="{FF2B5EF4-FFF2-40B4-BE49-F238E27FC236}">
                <a16:creationId xmlns:a16="http://schemas.microsoft.com/office/drawing/2014/main" id="{8DACA4B7-E3FF-4324-AF8F-247EE480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개발 순서</a:t>
            </a:r>
          </a:p>
        </p:txBody>
      </p:sp>
      <p:sp>
        <p:nvSpPr>
          <p:cNvPr id="7" name="commands">
            <a:extLst xmlns:a="http://schemas.openxmlformats.org/drawingml/2006/main">
              <a:ext uri="{FF2B5EF4-FFF2-40B4-BE49-F238E27FC236}">
                <a16:creationId xmlns:a16="http://schemas.microsoft.com/office/drawing/2014/main" id="{73A8085C-399B-4F5E-9F93-2D0DE1CA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02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0D10"/>
                </a:solidFill>
              </a:defRPr>
            </a:pPr>
            <a:r>
              <a:rPr sz="1650" b="1">
                <a:solidFill>
                  <a:srgbClr val="0B0D10"/>
                </a:solidFill>
              </a:rPr>
              <a:t>계정 기반  →  온라인 1v1  →  개인페이지  →  맵  →  2v2/3v3  →  캐릭터·VFX</a:t>
            </a:r>
          </a:p>
        </p:txBody>
      </p:sp>
    </p:spTree>
    <p:extLst>
      <p:ext uri="{BB962C8B-B14F-4D97-AF65-F5344CB8AC3E}">
        <p14:creationId xmlns:p14="http://schemas.microsoft.com/office/powerpoint/2010/main" val="18722172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15BF6929-C6B7-4B52-90AF-BAEFFB86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NEXT BUILD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BBEA84E-E7AD-431B-AAD7-41C8EAD0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71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0D10"/>
                </a:solidFill>
              </a:defRPr>
            </a:pPr>
            <a:r>
              <a:rPr sz="5100" b="1">
                <a:solidFill>
                  <a:srgbClr val="0B0D10"/>
                </a:solidFill>
              </a:rPr>
              <a:t>지금 시작할 개발은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0B0D10"/>
                </a:solidFill>
              </a:defRPr>
            </a:pPr>
            <a:r>
              <a:rPr sz="5100" b="1">
                <a:solidFill>
                  <a:srgbClr val="0B0D10"/>
                </a:solidFill>
              </a:rPr>
              <a:t>로그인·서버 저장 골격이다.</a:t>
            </a:r>
          </a:p>
        </p:txBody>
      </p:sp>
      <p:sp>
        <p:nvSpPr>
          <p:cNvPr id="3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9F18C16C-62EC-4C75-9F00-6903D182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809750"/>
            <a:ext cx="1657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next">
            <a:extLst xmlns:a="http://schemas.openxmlformats.org/drawingml/2006/main">
              <a:ext uri="{FF2B5EF4-FFF2-40B4-BE49-F238E27FC236}">
                <a16:creationId xmlns:a16="http://schemas.microsoft.com/office/drawing/2014/main" id="{57B8641F-BC03-4E43-AC0A-8B835232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93DB2"/>
                </a:solidFill>
              </a:defRPr>
            </a:pPr>
            <a:r>
              <a:rPr sz="1500" b="1">
                <a:solidFill>
                  <a:srgbClr val="D93DB2"/>
                </a:solidFill>
              </a:rPr>
              <a:t>FIRST PR</a:t>
            </a:r>
          </a:p>
        </p:txBody>
      </p:sp>
      <p:sp>
        <p:nvSpPr>
          <p:cNvPr id="5" name="close-actions">
            <a:extLst xmlns:a="http://schemas.openxmlformats.org/drawingml/2006/main">
              <a:ext uri="{FF2B5EF4-FFF2-40B4-BE49-F238E27FC236}">
                <a16:creationId xmlns:a16="http://schemas.microsoft.com/office/drawing/2014/main" id="{43854E00-87FC-4EF2-95C8-A47FA90D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10"/>
                </a:solidFill>
              </a:defRPr>
            </a:pPr>
            <a:r>
              <a:rPr sz="1800" b="1">
                <a:solidFill>
                  <a:srgbClr val="0B0D10"/>
                </a:solidFill>
              </a:rPr>
              <a:t>Auth API  ·  세션  ·  Profile DB  ·  로그인→메인→재접속 복원</a:t>
            </a:r>
          </a:p>
        </p:txBody>
      </p:sp>
      <p:sp>
        <p:nvSpPr>
          <p:cNvPr id="6" name="close-page">
            <a:extLst xmlns:a="http://schemas.openxmlformats.org/drawingml/2006/main">
              <a:ext uri="{FF2B5EF4-FFF2-40B4-BE49-F238E27FC236}">
                <a16:creationId xmlns:a16="http://schemas.microsoft.com/office/drawing/2014/main" id="{B12A40D2-CA77-4793-ADB6-083F96AD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3"/>
                </a:solidFill>
              </a:defRPr>
            </a:pPr>
            <a:r>
              <a:rPr sz="1050" b="0">
                <a:solidFill>
                  <a:srgbClr val="606773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06080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2026-08-14T07:55:04.3030000Z</dcterms:created>
  <dcterms:modified xsi:type="dcterms:W3CDTF">2026-08-14T07:55:04.3030000Z</dcterms:modified>
</coreProperties>
</file>